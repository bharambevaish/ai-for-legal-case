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3"/>
  </p:notesMasterIdLst>
  <p:sldIdLst>
    <p:sldId id="280" r:id="rId2"/>
    <p:sldId id="281" r:id="rId3"/>
    <p:sldId id="288" r:id="rId4"/>
    <p:sldId id="287" r:id="rId5"/>
    <p:sldId id="286" r:id="rId6"/>
    <p:sldId id="285" r:id="rId7"/>
    <p:sldId id="284" r:id="rId8"/>
    <p:sldId id="283" r:id="rId9"/>
    <p:sldId id="282" r:id="rId10"/>
    <p:sldId id="289" r:id="rId11"/>
    <p:sldId id="290" r:id="rId12"/>
    <p:sldId id="297" r:id="rId13"/>
    <p:sldId id="302" r:id="rId14"/>
    <p:sldId id="299" r:id="rId15"/>
    <p:sldId id="293" r:id="rId16"/>
    <p:sldId id="301" r:id="rId17"/>
    <p:sldId id="294" r:id="rId18"/>
    <p:sldId id="292" r:id="rId19"/>
    <p:sldId id="298" r:id="rId20"/>
    <p:sldId id="303" r:id="rId21"/>
    <p:sldId id="304"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01" autoAdjust="0"/>
    <p:restoredTop sz="94660"/>
  </p:normalViewPr>
  <p:slideViewPr>
    <p:cSldViewPr>
      <p:cViewPr varScale="1">
        <p:scale>
          <a:sx n="75" d="100"/>
          <a:sy n="75" d="100"/>
        </p:scale>
        <p:origin x="1560" y="43"/>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13ADEF-1232-40E6-AA0C-2DC4E3D89003}" type="datetimeFigureOut">
              <a:rPr lang="en-GB" smtClean="0"/>
              <a:pPr/>
              <a:t>02/06/2026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5E719B-CAD1-4CDF-AC07-FD62E51C143C}" type="slidenum">
              <a:rPr lang="en-GB" smtClean="0"/>
              <a:pPr/>
              <a:t>‹#›</a:t>
            </a:fld>
            <a:endParaRPr lang="en-GB"/>
          </a:p>
        </p:txBody>
      </p:sp>
    </p:spTree>
    <p:extLst>
      <p:ext uri="{BB962C8B-B14F-4D97-AF65-F5344CB8AC3E}">
        <p14:creationId xmlns:p14="http://schemas.microsoft.com/office/powerpoint/2010/main" val="3977812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2</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3</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4</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5</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6</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7</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8</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9</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10</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11</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978828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3AEB9-6845-9DD1-2F2C-7037C4818446}"/>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9602A233-ADF0-0BC6-1246-9917F13D62B0}"/>
              </a:ext>
            </a:extLst>
          </p:cNvPr>
          <p:cNvSpPr>
            <a:spLocks noGrp="1" noChangeArrowheads="1"/>
          </p:cNvSpPr>
          <p:nvPr>
            <p:ph type="sldNum" sz="quarter" idx="5"/>
          </p:nvPr>
        </p:nvSpPr>
        <p:spPr/>
        <p:txBody>
          <a:bodyPr/>
          <a:lstStyle/>
          <a:p>
            <a:fld id="{6BFD01EB-C9A3-4136-A0B1-C6AEC703FF81}" type="slidenum">
              <a:rPr lang="en-US" smtClean="0"/>
              <a:t>12</a:t>
            </a:fld>
            <a:endParaRPr lang="en-US"/>
          </a:p>
        </p:txBody>
      </p:sp>
      <p:sp>
        <p:nvSpPr>
          <p:cNvPr id="1048605" name="Rectangle 2">
            <a:extLst>
              <a:ext uri="{FF2B5EF4-FFF2-40B4-BE49-F238E27FC236}">
                <a16:creationId xmlns:a16="http://schemas.microsoft.com/office/drawing/2014/main" id="{EDF05222-02C2-A455-6C0C-7A34E7177D53}"/>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ED2FED09-032E-B3ED-1063-46FD4313CED8}"/>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2910496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F5B57-E5D5-AE48-25CD-31EE7285EB34}"/>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869746C9-1D09-878F-1AEC-C51AD376C6A7}"/>
              </a:ext>
            </a:extLst>
          </p:cNvPr>
          <p:cNvSpPr>
            <a:spLocks noGrp="1" noChangeArrowheads="1"/>
          </p:cNvSpPr>
          <p:nvPr>
            <p:ph type="sldNum" sz="quarter" idx="5"/>
          </p:nvPr>
        </p:nvSpPr>
        <p:spPr/>
        <p:txBody>
          <a:bodyPr/>
          <a:lstStyle/>
          <a:p>
            <a:fld id="{6BFD01EB-C9A3-4136-A0B1-C6AEC703FF81}" type="slidenum">
              <a:rPr lang="en-US" smtClean="0"/>
              <a:t>13</a:t>
            </a:fld>
            <a:endParaRPr lang="en-US"/>
          </a:p>
        </p:txBody>
      </p:sp>
      <p:sp>
        <p:nvSpPr>
          <p:cNvPr id="1048605" name="Rectangle 2">
            <a:extLst>
              <a:ext uri="{FF2B5EF4-FFF2-40B4-BE49-F238E27FC236}">
                <a16:creationId xmlns:a16="http://schemas.microsoft.com/office/drawing/2014/main" id="{68A11CAA-EEA1-2BC4-70D2-63C9C6927A66}"/>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D1D09C03-A0A3-2923-F8F2-4DA4E7143E91}"/>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94293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37DA7-EDCB-9A1F-A193-3B6BF928E01C}"/>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E4255C29-7EBF-35BA-744F-C8BAB096866A}"/>
              </a:ext>
            </a:extLst>
          </p:cNvPr>
          <p:cNvSpPr>
            <a:spLocks noGrp="1" noChangeArrowheads="1"/>
          </p:cNvSpPr>
          <p:nvPr>
            <p:ph type="sldNum" sz="quarter" idx="5"/>
          </p:nvPr>
        </p:nvSpPr>
        <p:spPr/>
        <p:txBody>
          <a:bodyPr/>
          <a:lstStyle/>
          <a:p>
            <a:fld id="{6BFD01EB-C9A3-4136-A0B1-C6AEC703FF81}" type="slidenum">
              <a:rPr lang="en-US" smtClean="0"/>
              <a:t>14</a:t>
            </a:fld>
            <a:endParaRPr lang="en-US"/>
          </a:p>
        </p:txBody>
      </p:sp>
      <p:sp>
        <p:nvSpPr>
          <p:cNvPr id="1048605" name="Rectangle 2">
            <a:extLst>
              <a:ext uri="{FF2B5EF4-FFF2-40B4-BE49-F238E27FC236}">
                <a16:creationId xmlns:a16="http://schemas.microsoft.com/office/drawing/2014/main" id="{68378ABE-11E1-6E4A-2ED1-D3E8F798EC02}"/>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7AA0AD9C-DE3A-84FB-B892-E49386A50B8F}"/>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6081200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DD083-FB4C-9E69-D444-9BC2AF13625D}"/>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0BC226E4-83C9-B902-9B01-415DC4DA99F8}"/>
              </a:ext>
            </a:extLst>
          </p:cNvPr>
          <p:cNvSpPr>
            <a:spLocks noGrp="1" noChangeArrowheads="1"/>
          </p:cNvSpPr>
          <p:nvPr>
            <p:ph type="sldNum" sz="quarter" idx="5"/>
          </p:nvPr>
        </p:nvSpPr>
        <p:spPr/>
        <p:txBody>
          <a:bodyPr/>
          <a:lstStyle/>
          <a:p>
            <a:fld id="{6BFD01EB-C9A3-4136-A0B1-C6AEC703FF81}" type="slidenum">
              <a:rPr lang="en-US" smtClean="0"/>
              <a:t>15</a:t>
            </a:fld>
            <a:endParaRPr lang="en-US"/>
          </a:p>
        </p:txBody>
      </p:sp>
      <p:sp>
        <p:nvSpPr>
          <p:cNvPr id="1048605" name="Rectangle 2">
            <a:extLst>
              <a:ext uri="{FF2B5EF4-FFF2-40B4-BE49-F238E27FC236}">
                <a16:creationId xmlns:a16="http://schemas.microsoft.com/office/drawing/2014/main" id="{F9CD3820-2D58-B4B6-9C01-1207D91DAC94}"/>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6BCB912D-F407-A363-5FB5-1FC6623DC9F4}"/>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35564886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3032A-03A0-F8AE-73AC-8163B568D445}"/>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361F879C-767D-B8BA-05F2-014FA44D1211}"/>
              </a:ext>
            </a:extLst>
          </p:cNvPr>
          <p:cNvSpPr>
            <a:spLocks noGrp="1" noChangeArrowheads="1"/>
          </p:cNvSpPr>
          <p:nvPr>
            <p:ph type="sldNum" sz="quarter" idx="5"/>
          </p:nvPr>
        </p:nvSpPr>
        <p:spPr/>
        <p:txBody>
          <a:bodyPr/>
          <a:lstStyle/>
          <a:p>
            <a:fld id="{6BFD01EB-C9A3-4136-A0B1-C6AEC703FF81}" type="slidenum">
              <a:rPr lang="en-US" smtClean="0"/>
              <a:t>16</a:t>
            </a:fld>
            <a:endParaRPr lang="en-US"/>
          </a:p>
        </p:txBody>
      </p:sp>
      <p:sp>
        <p:nvSpPr>
          <p:cNvPr id="1048605" name="Rectangle 2">
            <a:extLst>
              <a:ext uri="{FF2B5EF4-FFF2-40B4-BE49-F238E27FC236}">
                <a16:creationId xmlns:a16="http://schemas.microsoft.com/office/drawing/2014/main" id="{C1C19BE2-3398-3394-031D-CCDDCA1842C5}"/>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A631F86D-55D2-08CC-5089-FCF899CF6E5A}"/>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9841130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1A35A-D338-43FD-54A6-D6873D67E72E}"/>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59901480-7861-20F2-8A1D-605E8D2E4CD9}"/>
              </a:ext>
            </a:extLst>
          </p:cNvPr>
          <p:cNvSpPr>
            <a:spLocks noGrp="1" noChangeArrowheads="1"/>
          </p:cNvSpPr>
          <p:nvPr>
            <p:ph type="sldNum" sz="quarter" idx="5"/>
          </p:nvPr>
        </p:nvSpPr>
        <p:spPr/>
        <p:txBody>
          <a:bodyPr/>
          <a:lstStyle/>
          <a:p>
            <a:fld id="{6BFD01EB-C9A3-4136-A0B1-C6AEC703FF81}" type="slidenum">
              <a:rPr lang="en-US" smtClean="0"/>
              <a:t>17</a:t>
            </a:fld>
            <a:endParaRPr lang="en-US"/>
          </a:p>
        </p:txBody>
      </p:sp>
      <p:sp>
        <p:nvSpPr>
          <p:cNvPr id="1048605" name="Rectangle 2">
            <a:extLst>
              <a:ext uri="{FF2B5EF4-FFF2-40B4-BE49-F238E27FC236}">
                <a16:creationId xmlns:a16="http://schemas.microsoft.com/office/drawing/2014/main" id="{30CC53F6-2591-D6B3-7780-0CEE1D2E3B7F}"/>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8D7D8F6F-AECE-45AF-2BF3-FB030F514FF4}"/>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2196663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18</a:t>
            </a:fld>
            <a:endParaRPr lang="en-US"/>
          </a:p>
        </p:txBody>
      </p:sp>
      <p:sp>
        <p:nvSpPr>
          <p:cNvPr id="1048605" name="Rectangle 2"/>
          <p:cNvSpPr>
            <a:spLocks noGrp="1" noRot="1" noChangeAspect="1" noChangeArrowheads="1" noTextEdit="1"/>
          </p:cNvSpPr>
          <p:nvPr>
            <p:ph type="sldImg"/>
          </p:nvPr>
        </p:nvSpPr>
        <p:spPr/>
        <p:txBody>
          <a:bodyPr/>
          <a:lstStyle/>
          <a:p>
            <a:endParaRPr lang="en-IN"/>
          </a:p>
        </p:txBody>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6183763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34837-F152-E2FD-A475-49C3C72FB9A0}"/>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FC65E281-0A7F-7000-C31C-9600A54D3713}"/>
              </a:ext>
            </a:extLst>
          </p:cNvPr>
          <p:cNvSpPr>
            <a:spLocks noGrp="1" noChangeArrowheads="1"/>
          </p:cNvSpPr>
          <p:nvPr>
            <p:ph type="sldNum" sz="quarter" idx="5"/>
          </p:nvPr>
        </p:nvSpPr>
        <p:spPr/>
        <p:txBody>
          <a:bodyPr/>
          <a:lstStyle/>
          <a:p>
            <a:fld id="{6BFD01EB-C9A3-4136-A0B1-C6AEC703FF81}" type="slidenum">
              <a:rPr lang="en-US" smtClean="0"/>
              <a:t>19</a:t>
            </a:fld>
            <a:endParaRPr lang="en-US"/>
          </a:p>
        </p:txBody>
      </p:sp>
      <p:sp>
        <p:nvSpPr>
          <p:cNvPr id="1048605" name="Rectangle 2">
            <a:extLst>
              <a:ext uri="{FF2B5EF4-FFF2-40B4-BE49-F238E27FC236}">
                <a16:creationId xmlns:a16="http://schemas.microsoft.com/office/drawing/2014/main" id="{A8E9C929-102C-9DC6-1057-0F24FA5E3EAA}"/>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DB799AC3-5357-DA17-03EF-BB4C5811CD10}"/>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956350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52179-913F-38AC-D347-25792B8E6CC7}"/>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58F982CA-F123-7DBA-33D9-D712BE9C6648}"/>
              </a:ext>
            </a:extLst>
          </p:cNvPr>
          <p:cNvSpPr>
            <a:spLocks noGrp="1" noChangeArrowheads="1"/>
          </p:cNvSpPr>
          <p:nvPr>
            <p:ph type="sldNum" sz="quarter" idx="5"/>
          </p:nvPr>
        </p:nvSpPr>
        <p:spPr/>
        <p:txBody>
          <a:bodyPr/>
          <a:lstStyle/>
          <a:p>
            <a:fld id="{6BFD01EB-C9A3-4136-A0B1-C6AEC703FF81}" type="slidenum">
              <a:rPr lang="en-US" smtClean="0"/>
              <a:t>20</a:t>
            </a:fld>
            <a:endParaRPr lang="en-US"/>
          </a:p>
        </p:txBody>
      </p:sp>
      <p:sp>
        <p:nvSpPr>
          <p:cNvPr id="1048605" name="Rectangle 2">
            <a:extLst>
              <a:ext uri="{FF2B5EF4-FFF2-40B4-BE49-F238E27FC236}">
                <a16:creationId xmlns:a16="http://schemas.microsoft.com/office/drawing/2014/main" id="{20799219-A9D4-DE9D-7A5D-C428612441D8}"/>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B81E7A85-9370-1DC3-B006-2B074F05F0B0}"/>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511179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BC5C2-0FE2-AE25-39F7-AC4F6515B3CE}"/>
            </a:ext>
          </a:extLst>
        </p:cNvPr>
        <p:cNvGrpSpPr/>
        <p:nvPr/>
      </p:nvGrpSpPr>
      <p:grpSpPr>
        <a:xfrm>
          <a:off x="0" y="0"/>
          <a:ext cx="0" cy="0"/>
          <a:chOff x="0" y="0"/>
          <a:chExt cx="0" cy="0"/>
        </a:xfrm>
      </p:grpSpPr>
      <p:sp>
        <p:nvSpPr>
          <p:cNvPr id="1048604" name="Rectangle 7">
            <a:extLst>
              <a:ext uri="{FF2B5EF4-FFF2-40B4-BE49-F238E27FC236}">
                <a16:creationId xmlns:a16="http://schemas.microsoft.com/office/drawing/2014/main" id="{337DE882-E755-9C20-18CB-30164571DE8C}"/>
              </a:ext>
            </a:extLst>
          </p:cNvPr>
          <p:cNvSpPr>
            <a:spLocks noGrp="1" noChangeArrowheads="1"/>
          </p:cNvSpPr>
          <p:nvPr>
            <p:ph type="sldNum" sz="quarter" idx="5"/>
          </p:nvPr>
        </p:nvSpPr>
        <p:spPr/>
        <p:txBody>
          <a:bodyPr/>
          <a:lstStyle/>
          <a:p>
            <a:fld id="{6BFD01EB-C9A3-4136-A0B1-C6AEC703FF81}" type="slidenum">
              <a:rPr lang="en-US" smtClean="0"/>
              <a:t>21</a:t>
            </a:fld>
            <a:endParaRPr lang="en-US"/>
          </a:p>
        </p:txBody>
      </p:sp>
      <p:sp>
        <p:nvSpPr>
          <p:cNvPr id="1048605" name="Rectangle 2">
            <a:extLst>
              <a:ext uri="{FF2B5EF4-FFF2-40B4-BE49-F238E27FC236}">
                <a16:creationId xmlns:a16="http://schemas.microsoft.com/office/drawing/2014/main" id="{6F919522-DFB0-5ECC-8346-8016ABF3A228}"/>
              </a:ext>
            </a:extLst>
          </p:cNvPr>
          <p:cNvSpPr>
            <a:spLocks noGrp="1" noRot="1" noChangeAspect="1" noChangeArrowheads="1" noTextEdit="1"/>
          </p:cNvSpPr>
          <p:nvPr>
            <p:ph type="sldImg"/>
          </p:nvPr>
        </p:nvSpPr>
        <p:spPr/>
        <p:txBody>
          <a:bodyPr/>
          <a:lstStyle/>
          <a:p>
            <a:endParaRPr lang="en-IN"/>
          </a:p>
        </p:txBody>
      </p:sp>
      <p:sp>
        <p:nvSpPr>
          <p:cNvPr id="1048606" name="Rectangle 3">
            <a:extLst>
              <a:ext uri="{FF2B5EF4-FFF2-40B4-BE49-F238E27FC236}">
                <a16:creationId xmlns:a16="http://schemas.microsoft.com/office/drawing/2014/main" id="{B352A4F1-2989-7E99-B03B-73527A493544}"/>
              </a:ext>
            </a:extLst>
          </p:cNvPr>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591079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93EE43D5-2594-4735-80B7-F0E4544112AC}" type="datetime1">
              <a:rPr lang="en-GB" smtClean="0"/>
              <a:t>02/06/2026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33F980D-9641-4D55-BA26-2EDCEA9EE1F9}" type="datetime1">
              <a:rPr lang="en-GB" smtClean="0"/>
              <a:t>02/06/2026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2637F8-03A0-4970-9A0A-BCE5C1C1EC0E}" type="datetime1">
              <a:rPr lang="en-GB" smtClean="0"/>
              <a:t>02/06/2026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DAAD62D7-D6ED-44F8-A2FC-AD370DF5A044}" type="datetime1">
              <a:rPr lang="en-GB" smtClean="0"/>
              <a:t>02/06/2026</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A74D6229-4D31-4440-844B-D28A91210DCE}" type="datetime1">
              <a:rPr lang="en-GB" smtClean="0"/>
              <a:t>02/06/2026</a:t>
            </a:fld>
            <a:endParaRPr lang="en-GB"/>
          </a:p>
        </p:txBody>
      </p:sp>
      <p:sp>
        <p:nvSpPr>
          <p:cNvPr id="8" name="Footer Placeholder 7"/>
          <p:cNvSpPr>
            <a:spLocks noGrp="1"/>
          </p:cNvSpPr>
          <p:nvPr>
            <p:ph type="ftr" sz="quarter" idx="11"/>
          </p:nvPr>
        </p:nvSpPr>
        <p:spPr/>
        <p:txBody>
          <a:bodyPr/>
          <a:lstStyle/>
          <a:p>
            <a:r>
              <a:rPr lang="en-GB"/>
              <a:t>ICIMSI-2021</a:t>
            </a:r>
          </a:p>
        </p:txBody>
      </p:sp>
      <p:sp>
        <p:nvSpPr>
          <p:cNvPr id="9" name="Slide Number Placeholder 8"/>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6EB690D-B474-4F2D-8063-C3D6525BFDB7}" type="datetime1">
              <a:rPr lang="en-GB" smtClean="0"/>
              <a:t>02/06/2026</a:t>
            </a:fld>
            <a:endParaRPr lang="en-GB"/>
          </a:p>
        </p:txBody>
      </p:sp>
      <p:sp>
        <p:nvSpPr>
          <p:cNvPr id="4" name="Footer Placeholder 3"/>
          <p:cNvSpPr>
            <a:spLocks noGrp="1"/>
          </p:cNvSpPr>
          <p:nvPr>
            <p:ph type="ftr" sz="quarter" idx="11"/>
          </p:nvPr>
        </p:nvSpPr>
        <p:spPr/>
        <p:txBody>
          <a:bodyPr/>
          <a:lstStyle/>
          <a:p>
            <a:r>
              <a:rPr lang="en-GB"/>
              <a:t>ICIMSI-2021</a:t>
            </a:r>
          </a:p>
        </p:txBody>
      </p:sp>
      <p:sp>
        <p:nvSpPr>
          <p:cNvPr id="5" name="Slide Number Placeholder 4"/>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5D96AC-A833-40E3-8856-0B511BFD0B34}" type="datetime1">
              <a:rPr lang="en-GB" smtClean="0"/>
              <a:t>02/06/2026</a:t>
            </a:fld>
            <a:endParaRPr lang="en-GB"/>
          </a:p>
        </p:txBody>
      </p:sp>
      <p:sp>
        <p:nvSpPr>
          <p:cNvPr id="3" name="Footer Placeholder 2"/>
          <p:cNvSpPr>
            <a:spLocks noGrp="1"/>
          </p:cNvSpPr>
          <p:nvPr>
            <p:ph type="ftr" sz="quarter" idx="11"/>
          </p:nvPr>
        </p:nvSpPr>
        <p:spPr/>
        <p:txBody>
          <a:bodyPr/>
          <a:lstStyle/>
          <a:p>
            <a:r>
              <a:rPr lang="en-GB"/>
              <a:t>ICIMSI-2021</a:t>
            </a:r>
          </a:p>
        </p:txBody>
      </p:sp>
      <p:sp>
        <p:nvSpPr>
          <p:cNvPr id="4" name="Slide Number Placeholder 3"/>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20C083-5B51-4A6F-8A8D-25BF65281288}" type="datetime1">
              <a:rPr lang="en-GB" smtClean="0"/>
              <a:t>02/06/2026</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158CEF-DEAA-4FD7-A123-4034F0FFBE51}" type="datetime1">
              <a:rPr lang="en-GB" smtClean="0"/>
              <a:t>02/06/2026</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90ED07B-0D58-4238-8D9E-3917EDEFBF11}" type="datetime1">
              <a:rPr lang="en-GB" smtClean="0"/>
              <a:t>02/06/2026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15D4D9-60EA-4115-9F62-3D25530A60C4}" type="datetime1">
              <a:rPr lang="en-GB" smtClean="0"/>
              <a:t>02/06/2026</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03102E-B0BC-4EBE-905A-EE89488B9FC5}" type="datetime1">
              <a:rPr lang="en-GB" smtClean="0"/>
              <a:t>02/06/2026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ICIMSI-2021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C248AB-E565-412B-9D95-9B07D6A4F3F3}"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a:t>
            </a:fld>
            <a:endParaRPr lang="en-GB" b="1" dirty="0">
              <a:solidFill>
                <a:schemeClr val="tx1"/>
              </a:solidFill>
            </a:endParaRPr>
          </a:p>
        </p:txBody>
      </p:sp>
      <p:sp>
        <p:nvSpPr>
          <p:cNvPr id="4" name="TextBox 3"/>
          <p:cNvSpPr txBox="1"/>
          <p:nvPr/>
        </p:nvSpPr>
        <p:spPr>
          <a:xfrm>
            <a:off x="539552" y="1484784"/>
            <a:ext cx="8091772" cy="5355312"/>
          </a:xfrm>
          <a:prstGeom prst="rect">
            <a:avLst/>
          </a:prstGeom>
          <a:noFill/>
        </p:spPr>
        <p:txBody>
          <a:bodyPr wrap="square" rtlCol="0">
            <a:spAutoFit/>
          </a:bodyPr>
          <a:lstStyle/>
          <a:p>
            <a:pPr algn="ctr"/>
            <a:endParaRPr lang="en-US" dirty="0"/>
          </a:p>
          <a:p>
            <a:pPr algn="ctr"/>
            <a:r>
              <a:rPr lang="en-US" dirty="0">
                <a:latin typeface="Times New Roman" panose="02020603050405020304" pitchFamily="18" charset="0"/>
                <a:cs typeface="Times New Roman" panose="02020603050405020304" pitchFamily="18" charset="0"/>
              </a:rPr>
              <a:t>Presentation on</a:t>
            </a:r>
          </a:p>
          <a:p>
            <a:endParaRPr lang="en-US"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AI FOR LEGAL CASE OUTCOME PREDICTION</a:t>
            </a: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By</a:t>
            </a:r>
          </a:p>
          <a:p>
            <a:pPr algn="ctr"/>
            <a:endParaRPr lang="en-US" dirty="0">
              <a:latin typeface="Times New Roman" panose="02020603050405020304" pitchFamily="18" charset="0"/>
              <a:cs typeface="Times New Roman" panose="02020603050405020304" pitchFamily="18" charset="0"/>
            </a:endParaRPr>
          </a:p>
          <a:p>
            <a:pPr algn="ctr"/>
            <a:r>
              <a:rPr lang="en-US" b="1" dirty="0" err="1">
                <a:latin typeface="Times New Roman" panose="02020603050405020304" pitchFamily="18" charset="0"/>
                <a:cs typeface="Times New Roman" panose="02020603050405020304" pitchFamily="18" charset="0"/>
              </a:rPr>
              <a:t>Amay</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Lohar</a:t>
            </a:r>
            <a:r>
              <a:rPr lang="en-US" b="1" dirty="0">
                <a:latin typeface="Times New Roman" panose="02020603050405020304" pitchFamily="18" charset="0"/>
                <a:cs typeface="Times New Roman" panose="02020603050405020304" pitchFamily="18" charset="0"/>
              </a:rPr>
              <a:t> (B14)</a:t>
            </a:r>
          </a:p>
          <a:p>
            <a:pPr algn="ctr"/>
            <a:r>
              <a:rPr lang="en-US" b="1" dirty="0">
                <a:latin typeface="Times New Roman" panose="02020603050405020304" pitchFamily="18" charset="0"/>
                <a:cs typeface="Times New Roman" panose="02020603050405020304" pitchFamily="18" charset="0"/>
              </a:rPr>
              <a:t>Nikhil Raghuwanshi (B36)</a:t>
            </a:r>
          </a:p>
          <a:p>
            <a:pPr algn="ctr"/>
            <a:r>
              <a:rPr lang="en-US" b="1" dirty="0" err="1">
                <a:latin typeface="Times New Roman" panose="02020603050405020304" pitchFamily="18" charset="0"/>
                <a:cs typeface="Times New Roman" panose="02020603050405020304" pitchFamily="18" charset="0"/>
              </a:rPr>
              <a:t>Shital</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Kalekar</a:t>
            </a:r>
            <a:r>
              <a:rPr lang="en-US" b="1" dirty="0">
                <a:latin typeface="Times New Roman" panose="02020603050405020304" pitchFamily="18" charset="0"/>
                <a:cs typeface="Times New Roman" panose="02020603050405020304" pitchFamily="18" charset="0"/>
              </a:rPr>
              <a:t> (B62)</a:t>
            </a:r>
          </a:p>
          <a:p>
            <a:pPr algn="ctr"/>
            <a:r>
              <a:rPr lang="en-US" b="1" dirty="0">
                <a:latin typeface="Times New Roman" panose="02020603050405020304" pitchFamily="18" charset="0"/>
                <a:cs typeface="Times New Roman" panose="02020603050405020304" pitchFamily="18" charset="0"/>
              </a:rPr>
              <a:t>Shraddha Dhanwate (B76)</a:t>
            </a: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Under the guidance of </a:t>
            </a:r>
          </a:p>
          <a:p>
            <a:pPr algn="ctr"/>
            <a:r>
              <a:rPr lang="en-US" dirty="0">
                <a:latin typeface="Times New Roman" panose="02020603050405020304" pitchFamily="18" charset="0"/>
                <a:cs typeface="Times New Roman" panose="02020603050405020304" pitchFamily="18" charset="0"/>
              </a:rPr>
              <a:t>Dr. Prashant Ahire</a:t>
            </a:r>
          </a:p>
          <a:p>
            <a:pPr algn="ctr"/>
            <a:r>
              <a:rPr lang="en-US" dirty="0">
                <a:latin typeface="Times New Roman" panose="02020603050405020304" pitchFamily="18" charset="0"/>
                <a:cs typeface="Times New Roman" panose="02020603050405020304" pitchFamily="18" charset="0"/>
              </a:rPr>
              <a:t>Dr. Priyanka </a:t>
            </a:r>
            <a:r>
              <a:rPr lang="en-US" dirty="0" err="1">
                <a:latin typeface="Times New Roman" panose="02020603050405020304" pitchFamily="18" charset="0"/>
                <a:cs typeface="Times New Roman" panose="02020603050405020304" pitchFamily="18" charset="0"/>
              </a:rPr>
              <a:t>Patil</a:t>
            </a:r>
            <a:endParaRPr lang="en-US"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Department of CSE-Artificial Intelligence</a:t>
            </a:r>
          </a:p>
          <a:p>
            <a:pPr algn="ct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318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0"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Project Phase-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2</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438051" y="1600720"/>
            <a:ext cx="8164344" cy="584775"/>
          </a:xfrm>
          <a:prstGeom prst="rect">
            <a:avLst/>
          </a:prstGeom>
        </p:spPr>
        <p:txBody>
          <a:bodyPr wrap="square">
            <a:spAutoFit/>
          </a:bodyPr>
          <a:lstStyle/>
          <a:p>
            <a:pPr algn="ctr"/>
            <a:r>
              <a:rPr lang="en-US" sz="3200" b="1" dirty="0">
                <a:latin typeface="Times New Roman" panose="02020603050405020304" pitchFamily="18" charset="0"/>
                <a:cs typeface="Times New Roman" panose="02020603050405020304" pitchFamily="18" charset="0"/>
              </a:rPr>
              <a:t>Introduction</a:t>
            </a:r>
          </a:p>
        </p:txBody>
      </p:sp>
      <p:sp>
        <p:nvSpPr>
          <p:cNvPr id="8" name="TextBox 7">
            <a:extLst>
              <a:ext uri="{FF2B5EF4-FFF2-40B4-BE49-F238E27FC236}">
                <a16:creationId xmlns:a16="http://schemas.microsoft.com/office/drawing/2014/main" id="{A67A9DAE-0419-FD3F-D99F-5C084330AA93}"/>
              </a:ext>
            </a:extLst>
          </p:cNvPr>
          <p:cNvSpPr txBox="1"/>
          <p:nvPr/>
        </p:nvSpPr>
        <p:spPr>
          <a:xfrm>
            <a:off x="504574" y="2564904"/>
            <a:ext cx="8134851" cy="2862322"/>
          </a:xfrm>
          <a:prstGeom prst="rect">
            <a:avLst/>
          </a:prstGeom>
          <a:noFill/>
        </p:spPr>
        <p:txBody>
          <a:bodyPr wrap="square">
            <a:spAutoFit/>
          </a:bodyPr>
          <a:lstStyle/>
          <a:p>
            <a:pPr marL="285750" indent="-285750" algn="just">
              <a:buFont typeface="Arial" panose="020B0604020202020204" pitchFamily="34" charset="0"/>
              <a:buChar char="•"/>
            </a:pPr>
            <a:r>
              <a:rPr lang="en-US" sz="2000" dirty="0"/>
              <a:t>The Indian judicial system processes millions of cases annually, documented in lengthy, unstructured PDFs.</a:t>
            </a:r>
          </a:p>
          <a:p>
            <a:pPr marL="285750" indent="-285750" algn="just">
              <a:buFont typeface="Arial" panose="020B0604020202020204" pitchFamily="34" charset="0"/>
              <a:buChar char="•"/>
            </a:pPr>
            <a:r>
              <a:rPr lang="en-US" sz="2000" dirty="0"/>
              <a:t>Manual legal research and outcome prediction are highly time-consuming and cognitively demanding.</a:t>
            </a:r>
          </a:p>
          <a:p>
            <a:pPr marL="285750" indent="-285750" algn="just">
              <a:buFont typeface="Arial" panose="020B0604020202020204" pitchFamily="34" charset="0"/>
              <a:buChar char="•"/>
            </a:pPr>
            <a:r>
              <a:rPr lang="en-US" sz="2000" dirty="0"/>
              <a:t>Our Solution: A production-grade, end-to-end Legal AI Engine designed to read complex court judgments, automatically translate outdated laws, and predict appellate outcomes.</a:t>
            </a:r>
          </a:p>
          <a:p>
            <a:pPr marL="285750" indent="-285750" algn="just">
              <a:buFont typeface="Arial" panose="020B0604020202020204" pitchFamily="34" charset="0"/>
              <a:buChar char="•"/>
            </a:pPr>
            <a:r>
              <a:rPr lang="en-US" sz="2000" dirty="0"/>
              <a:t>Core Technology: Advanced domain-specific Transformers (InLegalBERT), augmented by Dynamic Statutory Translation and Explainable AI (SHAP).</a:t>
            </a:r>
          </a:p>
        </p:txBody>
      </p:sp>
      <p:sp>
        <p:nvSpPr>
          <p:cNvPr id="3" name="TextBox 7">
            <a:extLst>
              <a:ext uri="{FF2B5EF4-FFF2-40B4-BE49-F238E27FC236}">
                <a16:creationId xmlns:a16="http://schemas.microsoft.com/office/drawing/2014/main" id="{6B67A367-E99F-1F45-2F50-63B323D2A4F8}"/>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4150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3</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6512" y="1484784"/>
            <a:ext cx="9107488" cy="584775"/>
          </a:xfrm>
          <a:prstGeom prst="rect">
            <a:avLst/>
          </a:prstGeom>
        </p:spPr>
        <p:txBody>
          <a:bodyPr wrap="square">
            <a:spAutoFit/>
          </a:bodyPr>
          <a:lstStyle/>
          <a:p>
            <a:pPr algn="ctr"/>
            <a:r>
              <a:rPr lang="en-US" sz="3200" b="1" dirty="0">
                <a:latin typeface="Times New Roman" panose="02020603050405020304" pitchFamily="18" charset="0"/>
                <a:cs typeface="Times New Roman" panose="02020603050405020304" pitchFamily="18" charset="0"/>
              </a:rPr>
              <a:t>Problem Statement</a:t>
            </a:r>
          </a:p>
        </p:txBody>
      </p:sp>
      <p:sp>
        <p:nvSpPr>
          <p:cNvPr id="6" name="TextBox 5">
            <a:extLst>
              <a:ext uri="{FF2B5EF4-FFF2-40B4-BE49-F238E27FC236}">
                <a16:creationId xmlns:a16="http://schemas.microsoft.com/office/drawing/2014/main" id="{9766C21A-F74A-B2BD-CE4F-5436BB581D51}"/>
              </a:ext>
            </a:extLst>
          </p:cNvPr>
          <p:cNvSpPr txBox="1"/>
          <p:nvPr/>
        </p:nvSpPr>
        <p:spPr>
          <a:xfrm>
            <a:off x="520820" y="2048773"/>
            <a:ext cx="8102359" cy="4524315"/>
          </a:xfrm>
          <a:prstGeom prst="rect">
            <a:avLst/>
          </a:prstGeom>
          <a:noFill/>
        </p:spPr>
        <p:txBody>
          <a:bodyPr wrap="square" numCol="1">
            <a:spAutoFit/>
          </a:bodyPr>
          <a:lstStyle/>
          <a:p>
            <a:pPr algn="just"/>
            <a:r>
              <a:rPr lang="en-US" dirty="0"/>
              <a:t>The legal system suffers from a massive backlog, with judgments spanning hundreds of unstructured pages. Applying standard AI introduces three major roadblocks:</a:t>
            </a:r>
          </a:p>
          <a:p>
            <a:pPr algn="just"/>
            <a:endParaRPr lang="en-US" dirty="0"/>
          </a:p>
          <a:p>
            <a:pPr marL="285750" indent="-285750">
              <a:buFont typeface="Arial" panose="020B0604020202020204" pitchFamily="34" charset="0"/>
              <a:buChar char="•"/>
            </a:pPr>
            <a:r>
              <a:rPr lang="en-IN" dirty="0"/>
              <a:t>India's judiciary has </a:t>
            </a:r>
            <a:r>
              <a:rPr lang="en-IN" b="1" dirty="0"/>
              <a:t>over 5 crore pending cases</a:t>
            </a:r>
            <a:r>
              <a:rPr lang="en-IN" dirty="0"/>
              <a:t> across the Supreme Court, 25 High Courts, and 700+ District Courts — one of the largest judicial backlogs globally.</a:t>
            </a:r>
          </a:p>
          <a:p>
            <a:pPr marL="285750" indent="-285750">
              <a:buFont typeface="Arial" panose="020B0604020202020204" pitchFamily="34" charset="0"/>
              <a:buChar char="•"/>
            </a:pPr>
            <a:r>
              <a:rPr lang="en-IN" dirty="0"/>
              <a:t>Court judgments are </a:t>
            </a:r>
            <a:r>
              <a:rPr lang="en-IN" b="1" dirty="0"/>
              <a:t>lengthy, unstructured PDFs</a:t>
            </a:r>
            <a:r>
              <a:rPr lang="en-IN" dirty="0"/>
              <a:t> (20–100+ pages) written in complex legal English, making manual analysis extremely time-consuming.</a:t>
            </a:r>
          </a:p>
          <a:p>
            <a:pPr marL="285750" indent="-285750">
              <a:buFont typeface="Arial" panose="020B0604020202020204" pitchFamily="34" charset="0"/>
              <a:buChar char="•"/>
            </a:pPr>
            <a:r>
              <a:rPr lang="en-IN" b="1" dirty="0"/>
              <a:t>No domain-specific AI tool</a:t>
            </a:r>
            <a:r>
              <a:rPr lang="en-IN" dirty="0"/>
              <a:t> exists for the Indian legal system — generic LLMs like GPT lack understanding of Indian statutes, FIR terminology, and case law structures.</a:t>
            </a:r>
          </a:p>
          <a:p>
            <a:pPr marL="285750" indent="-285750">
              <a:buFont typeface="Arial" panose="020B0604020202020204" pitchFamily="34" charset="0"/>
              <a:buChar char="•"/>
            </a:pPr>
            <a:r>
              <a:rPr lang="en-IN" dirty="0"/>
              <a:t>India's 2023 transition from the </a:t>
            </a:r>
            <a:r>
              <a:rPr lang="en-IN" b="1" dirty="0"/>
              <a:t>Indian Penal Code (IPC, 1860)</a:t>
            </a:r>
            <a:r>
              <a:rPr lang="en-IN" dirty="0"/>
              <a:t> to the </a:t>
            </a:r>
            <a:r>
              <a:rPr lang="en-IN" b="1" dirty="0"/>
              <a:t>Bharatiya Nyaya Sanhita (BNS)</a:t>
            </a:r>
            <a:r>
              <a:rPr lang="en-IN" dirty="0"/>
              <a:t> has created widespread confusion among legal professionals due to renumbered sections.</a:t>
            </a:r>
          </a:p>
          <a:p>
            <a:pPr marL="285750" indent="-285750">
              <a:buFont typeface="Arial" panose="020B0604020202020204" pitchFamily="34" charset="0"/>
              <a:buChar char="•"/>
            </a:pPr>
            <a:r>
              <a:rPr lang="en-IN" dirty="0"/>
              <a:t>Lawyers and litigants </a:t>
            </a:r>
            <a:r>
              <a:rPr lang="en-IN" b="1" dirty="0"/>
              <a:t>lack predictive insight</a:t>
            </a:r>
            <a:r>
              <a:rPr lang="en-IN" dirty="0"/>
              <a:t> into case outcomes, leading to uncertainty, wasted effort, and delayed justice.</a:t>
            </a:r>
          </a:p>
        </p:txBody>
      </p:sp>
      <p:sp>
        <p:nvSpPr>
          <p:cNvPr id="3" name="TextBox 7">
            <a:extLst>
              <a:ext uri="{FF2B5EF4-FFF2-40B4-BE49-F238E27FC236}">
                <a16:creationId xmlns:a16="http://schemas.microsoft.com/office/drawing/2014/main" id="{46DE5231-D33E-2CEA-8325-35F7FCD2A430}"/>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5194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69332"/>
          </a:xfrm>
          <a:prstGeom prst="rect">
            <a:avLst/>
          </a:prstGeom>
          <a:solidFill>
            <a:srgbClr val="FFC000"/>
          </a:solidFill>
          <a:ln w="9525">
            <a:noFill/>
            <a:miter lim="800000"/>
          </a:ln>
        </p:spPr>
        <p:txBody>
          <a:bodyPr wrap="square">
            <a:spAutoFit/>
          </a:bodyPr>
          <a:lstStyle/>
          <a:p>
            <a:pPr algn="ctr"/>
            <a:r>
              <a:rPr lang="en-US" b="1" dirty="0"/>
              <a:t>Review -</a:t>
            </a:r>
            <a:r>
              <a:rPr lang="en-US" b="1" dirty="0">
                <a:latin typeface="Times New Roman" panose="02020603050405020304" pitchFamily="18" charset="0"/>
                <a:cs typeface="Times New Roman" panose="02020603050405020304" pitchFamily="18" charset="0"/>
              </a:rPr>
              <a:t> IV</a:t>
            </a:r>
            <a:endParaRPr lang="en-IN" sz="1600" dirty="0">
              <a:effectLst/>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4</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6512" y="1614861"/>
            <a:ext cx="9107488" cy="584775"/>
          </a:xfrm>
          <a:prstGeom prst="rect">
            <a:avLst/>
          </a:prstGeom>
        </p:spPr>
        <p:txBody>
          <a:bodyPr wrap="square">
            <a:spAutoFit/>
          </a:bodyPr>
          <a:lstStyle/>
          <a:p>
            <a:pPr algn="ctr"/>
            <a:r>
              <a:rPr lang="en-US" sz="3200" b="1" dirty="0">
                <a:latin typeface="Times New Roman" panose="02020603050405020304" pitchFamily="18" charset="0"/>
                <a:cs typeface="Times New Roman" panose="02020603050405020304" pitchFamily="18" charset="0"/>
              </a:rPr>
              <a:t>Problem Solution</a:t>
            </a:r>
          </a:p>
        </p:txBody>
      </p:sp>
      <p:sp>
        <p:nvSpPr>
          <p:cNvPr id="4" name="Rectangle 3"/>
          <p:cNvSpPr/>
          <p:nvPr/>
        </p:nvSpPr>
        <p:spPr>
          <a:xfrm>
            <a:off x="467544" y="2399402"/>
            <a:ext cx="8280920" cy="4247317"/>
          </a:xfrm>
          <a:prstGeom prst="rect">
            <a:avLst/>
          </a:prstGeom>
        </p:spPr>
        <p:txBody>
          <a:bodyPr wrap="square">
            <a:spAutoFit/>
          </a:bodyPr>
          <a:lstStyle/>
          <a:p>
            <a:pPr marL="285750" indent="-285750" algn="just">
              <a:buFont typeface="Arial" panose="020B0604020202020204" pitchFamily="34" charset="0"/>
              <a:buChar char="•"/>
            </a:pPr>
            <a:r>
              <a:rPr lang="en-IN" b="1" dirty="0"/>
              <a:t>Structure-Aware Chunking:</a:t>
            </a:r>
            <a:r>
              <a:rPr lang="en-IN" dirty="0"/>
              <a:t> Engineered a custom Regex pipeline to specifically isolate 'Facts' and 'Arguments' sections from unstructured judgments, bypassing BERT's 512-token limit and feeding only legally relevant text.</a:t>
            </a:r>
          </a:p>
          <a:p>
            <a:pPr marL="285750" indent="-285750" algn="just">
              <a:buFont typeface="Arial" panose="020B0604020202020204" pitchFamily="34" charset="0"/>
              <a:buChar char="•"/>
            </a:pPr>
            <a:r>
              <a:rPr lang="en-IN" b="1" dirty="0"/>
              <a:t>Dynamic JSON Middleware:</a:t>
            </a:r>
            <a:r>
              <a:rPr lang="en-IN" dirty="0"/>
              <a:t> Built an automated IPC-to-BNS translation layer (80+ mappings in </a:t>
            </a:r>
            <a:r>
              <a:rPr lang="en-IN" dirty="0" err="1"/>
              <a:t>bns_mapping.json</a:t>
            </a:r>
            <a:r>
              <a:rPr lang="en-IN" dirty="0"/>
              <a:t>) that seamlessly converts legacy IPC section references to modern BNS equivalents before AI inference.</a:t>
            </a:r>
          </a:p>
          <a:p>
            <a:pPr marL="285750" indent="-285750" algn="just">
              <a:buFont typeface="Arial" panose="020B0604020202020204" pitchFamily="34" charset="0"/>
              <a:buChar char="•"/>
            </a:pPr>
            <a:r>
              <a:rPr lang="en-IN" b="1" dirty="0"/>
              <a:t>Dual-Inference Pipeline:</a:t>
            </a:r>
            <a:r>
              <a:rPr lang="en-IN" dirty="0"/>
              <a:t> Two separately fine-tuned InLegalBERT models — Module B classifies Jurisdiction (Civil / Criminal / Constitutional) and Module C predicts Appellate Outcome (Allowed / Dismissed) — achieving </a:t>
            </a:r>
            <a:r>
              <a:rPr lang="en-IN" b="1" dirty="0"/>
              <a:t>85.2% accuracy</a:t>
            </a:r>
            <a:r>
              <a:rPr lang="en-IN" dirty="0"/>
              <a:t>.</a:t>
            </a:r>
          </a:p>
          <a:p>
            <a:pPr marL="285750" indent="-285750" algn="just">
              <a:buFont typeface="Arial" panose="020B0604020202020204" pitchFamily="34" charset="0"/>
              <a:buChar char="•"/>
            </a:pPr>
            <a:r>
              <a:rPr lang="en-IN" b="1" dirty="0"/>
              <a:t>Role-Based Access Control:</a:t>
            </a:r>
            <a:r>
              <a:rPr lang="en-IN" dirty="0"/>
              <a:t> Four user roles (Student, Lawyer, Judge, Admin) with </a:t>
            </a:r>
            <a:r>
              <a:rPr lang="en-IN" dirty="0" err="1"/>
              <a:t>Supabase</a:t>
            </a:r>
            <a:r>
              <a:rPr lang="en-IN" dirty="0"/>
              <a:t> authentication and Row Level Security, ensuring each user only accesses authorized modules and their own data.</a:t>
            </a:r>
          </a:p>
          <a:p>
            <a:pPr marL="285750" indent="-285750" algn="just">
              <a:buFont typeface="Arial" panose="020B0604020202020204" pitchFamily="34" charset="0"/>
              <a:buChar char="•"/>
            </a:pPr>
            <a:r>
              <a:rPr lang="en-IN" b="1" dirty="0"/>
              <a:t>Cloud-Backed Audit Trail:</a:t>
            </a:r>
            <a:r>
              <a:rPr lang="en-IN" dirty="0"/>
              <a:t> Every prediction is automatically logged to a PostgreSQL database with timestamps, confidence scores, and file references for full traceability.</a:t>
            </a:r>
          </a:p>
        </p:txBody>
      </p:sp>
      <p:sp>
        <p:nvSpPr>
          <p:cNvPr id="5" name="TextBox 7">
            <a:extLst>
              <a:ext uri="{FF2B5EF4-FFF2-40B4-BE49-F238E27FC236}">
                <a16:creationId xmlns:a16="http://schemas.microsoft.com/office/drawing/2014/main" id="{71176B41-7C31-48A8-B503-CEAF72F125AA}"/>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3402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title"/>
          </p:nvPr>
        </p:nvSpPr>
        <p:spPr>
          <a:xfrm>
            <a:off x="457200" y="116632"/>
            <a:ext cx="8229600" cy="1143000"/>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5</a:t>
            </a:fld>
            <a:endParaRPr lang="en-GB" b="1" dirty="0">
              <a:solidFill>
                <a:schemeClr val="tx1"/>
              </a:solidFill>
            </a:endParaRPr>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4"/>
          <p:cNvSpPr>
            <a:spLocks noGrp="1" noChangeArrowheads="1"/>
          </p:cNvSpPr>
          <p:nvPr>
            <p:ph idx="1"/>
          </p:nvPr>
        </p:nvSpPr>
        <p:spPr bwMode="auto">
          <a:xfrm>
            <a:off x="404608" y="2113686"/>
            <a:ext cx="8407808"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b="1" dirty="0"/>
              <a:t>Objective 1:</a:t>
            </a:r>
            <a:r>
              <a:rPr lang="en-IN" sz="2000" dirty="0"/>
              <a:t> Curate a real-world corpus of Indian judicial data from Supreme Court and High Court appellate records.</a:t>
            </a:r>
          </a:p>
          <a:p>
            <a:r>
              <a:rPr lang="en-IN" sz="2000" b="1" dirty="0"/>
              <a:t>Objective 2:</a:t>
            </a:r>
            <a:r>
              <a:rPr lang="en-IN" sz="2000" dirty="0"/>
              <a:t> Engineer a robust NLP pipeline using PyMuPDF and Structure-Aware Chunking to extract core case facts, arguments, and judgment sections from raw PDFs.</a:t>
            </a:r>
          </a:p>
          <a:p>
            <a:r>
              <a:rPr lang="en-IN" sz="2000" b="1" dirty="0"/>
              <a:t>Objective 3:</a:t>
            </a:r>
            <a:r>
              <a:rPr lang="en-IN" sz="2000" dirty="0"/>
              <a:t> Implement a dynamic IPC-to-BNS translation layer with 80+ statutory section mappings to bridge legacy and modern penal codes.</a:t>
            </a:r>
          </a:p>
          <a:p>
            <a:r>
              <a:rPr lang="en-IN" sz="2000" b="1" dirty="0"/>
              <a:t>Objective 4:</a:t>
            </a:r>
            <a:r>
              <a:rPr lang="en-IN" sz="2000" dirty="0"/>
              <a:t> Train and deploy a dual-inference InLegalBERT transformer pipeline — one model for jurisdiction classification (3-class) and one for outcome prediction (binary).</a:t>
            </a:r>
          </a:p>
          <a:p>
            <a:r>
              <a:rPr lang="en-IN" sz="2000" b="1" dirty="0"/>
              <a:t>Objective 5:</a:t>
            </a:r>
            <a:r>
              <a:rPr lang="en-IN" sz="2000" dirty="0"/>
              <a:t> Develop a secure, role-based SaaS dashboard (Streamlit + </a:t>
            </a:r>
            <a:r>
              <a:rPr lang="en-IN" sz="2000" dirty="0" err="1"/>
              <a:t>Supabase</a:t>
            </a:r>
            <a:r>
              <a:rPr lang="en-IN" sz="2000" dirty="0"/>
              <a:t>) with authenticated access for Students, Lawyers, Judges, and Admins.</a:t>
            </a:r>
          </a:p>
        </p:txBody>
      </p:sp>
      <p:sp>
        <p:nvSpPr>
          <p:cNvPr id="9" name="Rectangle 5"/>
          <p:cNvSpPr>
            <a:spLocks noChangeArrowheads="1"/>
          </p:cNvSpPr>
          <p:nvPr/>
        </p:nvSpPr>
        <p:spPr bwMode="auto">
          <a:xfrm rot="10800000" flipV="1">
            <a:off x="40304" y="1615851"/>
            <a:ext cx="90633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Objectives</a:t>
            </a:r>
          </a:p>
        </p:txBody>
      </p:sp>
      <p:sp>
        <p:nvSpPr>
          <p:cNvPr id="3" name="TextBox 7">
            <a:extLst>
              <a:ext uri="{FF2B5EF4-FFF2-40B4-BE49-F238E27FC236}">
                <a16:creationId xmlns:a16="http://schemas.microsoft.com/office/drawing/2014/main" id="{7CEDFD2C-308A-D9C2-2C39-5C7ACE293A02}"/>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871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6</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p:cNvSpPr>
            <a:spLocks noChangeArrowheads="1"/>
          </p:cNvSpPr>
          <p:nvPr/>
        </p:nvSpPr>
        <p:spPr bwMode="auto">
          <a:xfrm rot="10800000" flipV="1">
            <a:off x="257111" y="2012061"/>
            <a:ext cx="862977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r>
              <a:rPr lang="en-IN" b="1" dirty="0"/>
              <a:t>Data Extraction:</a:t>
            </a:r>
            <a:r>
              <a:rPr lang="en-IN" dirty="0"/>
              <a:t> Extracted raw text from legal judgment PDFs using PyMuPDF (</a:t>
            </a:r>
            <a:r>
              <a:rPr lang="en-IN" dirty="0" err="1"/>
              <a:t>fitz</a:t>
            </a:r>
            <a:r>
              <a:rPr lang="en-IN" dirty="0"/>
              <a:t>), handling multi-page documents with complex formatting.</a:t>
            </a:r>
          </a:p>
          <a:p>
            <a:pPr marL="285750" indent="-285750" algn="just">
              <a:buFont typeface="Arial" panose="020B0604020202020204" pitchFamily="34" charset="0"/>
              <a:buChar char="•"/>
            </a:pPr>
            <a:r>
              <a:rPr lang="en-IN" b="1" dirty="0"/>
              <a:t>Text Preprocessing:</a:t>
            </a:r>
            <a:r>
              <a:rPr lang="en-IN" dirty="0"/>
              <a:t> Applied custom Regex patterns to remove irrelevant metadata — CORAM, HEADNOTE, administrative headers — retaining only the substantive legal content.</a:t>
            </a:r>
          </a:p>
          <a:p>
            <a:pPr marL="285750" indent="-285750" algn="just">
              <a:buFont typeface="Arial" panose="020B0604020202020204" pitchFamily="34" charset="0"/>
              <a:buChar char="•"/>
            </a:pPr>
            <a:r>
              <a:rPr lang="en-IN" b="1" dirty="0"/>
              <a:t>Dynamic Translation:</a:t>
            </a:r>
            <a:r>
              <a:rPr lang="en-IN" dirty="0"/>
              <a:t> Passed cleaned text through a JSON-based IPC-to-BNS middleware that replaces legacy penal code references with their modern BNS equivalents (80+ mappings).</a:t>
            </a:r>
          </a:p>
          <a:p>
            <a:pPr marL="285750" indent="-285750" algn="just">
              <a:buFont typeface="Arial" panose="020B0604020202020204" pitchFamily="34" charset="0"/>
              <a:buChar char="•"/>
            </a:pPr>
            <a:r>
              <a:rPr lang="en-IN" b="1" dirty="0"/>
              <a:t>Structure-Aware Chunking:</a:t>
            </a:r>
            <a:r>
              <a:rPr lang="en-IN" dirty="0"/>
              <a:t> Isolated the three key sections — 'Facts', 'Arguments', and 'Judgment' — using domain-specific Regex patterns to feed the AI only pure, contextually relevant text.</a:t>
            </a:r>
          </a:p>
          <a:p>
            <a:pPr marL="285750" indent="-285750" algn="just">
              <a:buFont typeface="Arial" panose="020B0604020202020204" pitchFamily="34" charset="0"/>
              <a:buChar char="•"/>
            </a:pPr>
            <a:r>
              <a:rPr lang="en-IN" b="1" dirty="0"/>
              <a:t>Dual-Model Inference:</a:t>
            </a:r>
            <a:r>
              <a:rPr lang="en-IN" dirty="0"/>
              <a:t> Processed extracted chunks through two separately fine-tuned InLegalBERT models — Module B for Jurisdiction classification (3-class) and Module C for Outcome prediction (binary).</a:t>
            </a:r>
          </a:p>
          <a:p>
            <a:pPr marL="285750" indent="-285750" algn="just">
              <a:buFont typeface="Arial" panose="020B0604020202020204" pitchFamily="34" charset="0"/>
              <a:buChar char="•"/>
            </a:pPr>
            <a:r>
              <a:rPr lang="en-IN" b="1" dirty="0"/>
              <a:t>Secure SaaS Deployment:</a:t>
            </a:r>
            <a:r>
              <a:rPr lang="en-IN" dirty="0"/>
              <a:t> Wrapped the entire pipeline in a Streamlit dashboard with </a:t>
            </a:r>
            <a:r>
              <a:rPr lang="en-IN" dirty="0" err="1"/>
              <a:t>Supabase</a:t>
            </a:r>
            <a:r>
              <a:rPr lang="en-IN" dirty="0"/>
              <a:t> PostgreSQL backend for role-based authentication, encrypted data storage, and prediction audit logging.</a:t>
            </a:r>
          </a:p>
        </p:txBody>
      </p:sp>
      <p:sp>
        <p:nvSpPr>
          <p:cNvPr id="5" name="Rectangle 4"/>
          <p:cNvSpPr/>
          <p:nvPr/>
        </p:nvSpPr>
        <p:spPr>
          <a:xfrm>
            <a:off x="190694" y="1412776"/>
            <a:ext cx="8843028"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Methodology/ Workflow</a:t>
            </a:r>
          </a:p>
        </p:txBody>
      </p:sp>
      <p:sp>
        <p:nvSpPr>
          <p:cNvPr id="4" name="TextBox 7">
            <a:extLst>
              <a:ext uri="{FF2B5EF4-FFF2-40B4-BE49-F238E27FC236}">
                <a16:creationId xmlns:a16="http://schemas.microsoft.com/office/drawing/2014/main" id="{5D2CEBED-EFDE-80CC-D688-92F0D02401A2}"/>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5366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7</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9285" y="1582511"/>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System Architecture</a:t>
            </a:r>
          </a:p>
        </p:txBody>
      </p:sp>
      <p:pic>
        <p:nvPicPr>
          <p:cNvPr id="5" name="Picture 4">
            <a:extLst>
              <a:ext uri="{FF2B5EF4-FFF2-40B4-BE49-F238E27FC236}">
                <a16:creationId xmlns:a16="http://schemas.microsoft.com/office/drawing/2014/main" id="{D79ACFDA-1173-5C91-CFE7-B05E4E8DA60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55843" y="2204864"/>
            <a:ext cx="3432314" cy="4334048"/>
          </a:xfrm>
          <a:prstGeom prst="rect">
            <a:avLst/>
          </a:prstGeom>
        </p:spPr>
      </p:pic>
      <p:sp>
        <p:nvSpPr>
          <p:cNvPr id="4" name="TextBox 7">
            <a:extLst>
              <a:ext uri="{FF2B5EF4-FFF2-40B4-BE49-F238E27FC236}">
                <a16:creationId xmlns:a16="http://schemas.microsoft.com/office/drawing/2014/main" id="{0CCAD606-1041-7110-070A-591A6C159994}"/>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1662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8</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6004" y="1391290"/>
            <a:ext cx="9144000"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Literature Survey</a:t>
            </a:r>
          </a:p>
        </p:txBody>
      </p:sp>
      <p:sp>
        <p:nvSpPr>
          <p:cNvPr id="6" name="Rectangle 1"/>
          <p:cNvSpPr>
            <a:spLocks noChangeArrowheads="1"/>
          </p:cNvSpPr>
          <p:nvPr/>
        </p:nvSpPr>
        <p:spPr bwMode="auto">
          <a:xfrm>
            <a:off x="251949" y="2251720"/>
            <a:ext cx="2083696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aphicFrame>
        <p:nvGraphicFramePr>
          <p:cNvPr id="7" name="Table 6"/>
          <p:cNvGraphicFramePr>
            <a:graphicFrameLocks noGrp="1"/>
          </p:cNvGraphicFramePr>
          <p:nvPr>
            <p:extLst>
              <p:ext uri="{D42A27DB-BD31-4B8C-83A1-F6EECF244321}">
                <p14:modId xmlns:p14="http://schemas.microsoft.com/office/powerpoint/2010/main" val="427894708"/>
              </p:ext>
            </p:extLst>
          </p:nvPr>
        </p:nvGraphicFramePr>
        <p:xfrm>
          <a:off x="236443" y="2048117"/>
          <a:ext cx="8728044" cy="4753345"/>
        </p:xfrm>
        <a:graphic>
          <a:graphicData uri="http://schemas.openxmlformats.org/drawingml/2006/table">
            <a:tbl>
              <a:tblPr firstRow="1" firstCol="1" bandRow="1">
                <a:tableStyleId>{5C22544A-7EE6-4342-B048-85BDC9FD1C3A}</a:tableStyleId>
              </a:tblPr>
              <a:tblGrid>
                <a:gridCol w="654946">
                  <a:extLst>
                    <a:ext uri="{9D8B030D-6E8A-4147-A177-3AD203B41FA5}">
                      <a16:colId xmlns:a16="http://schemas.microsoft.com/office/drawing/2014/main" val="1164334105"/>
                    </a:ext>
                  </a:extLst>
                </a:gridCol>
                <a:gridCol w="1725352">
                  <a:extLst>
                    <a:ext uri="{9D8B030D-6E8A-4147-A177-3AD203B41FA5}">
                      <a16:colId xmlns:a16="http://schemas.microsoft.com/office/drawing/2014/main" val="811683520"/>
                    </a:ext>
                  </a:extLst>
                </a:gridCol>
                <a:gridCol w="701299">
                  <a:extLst>
                    <a:ext uri="{9D8B030D-6E8A-4147-A177-3AD203B41FA5}">
                      <a16:colId xmlns:a16="http://schemas.microsoft.com/office/drawing/2014/main" val="3569505782"/>
                    </a:ext>
                  </a:extLst>
                </a:gridCol>
                <a:gridCol w="1795738">
                  <a:extLst>
                    <a:ext uri="{9D8B030D-6E8A-4147-A177-3AD203B41FA5}">
                      <a16:colId xmlns:a16="http://schemas.microsoft.com/office/drawing/2014/main" val="1882051763"/>
                    </a:ext>
                  </a:extLst>
                </a:gridCol>
                <a:gridCol w="1561400">
                  <a:extLst>
                    <a:ext uri="{9D8B030D-6E8A-4147-A177-3AD203B41FA5}">
                      <a16:colId xmlns:a16="http://schemas.microsoft.com/office/drawing/2014/main" val="3234997819"/>
                    </a:ext>
                  </a:extLst>
                </a:gridCol>
                <a:gridCol w="2289309">
                  <a:extLst>
                    <a:ext uri="{9D8B030D-6E8A-4147-A177-3AD203B41FA5}">
                      <a16:colId xmlns:a16="http://schemas.microsoft.com/office/drawing/2014/main" val="1253278123"/>
                    </a:ext>
                  </a:extLst>
                </a:gridCol>
              </a:tblGrid>
              <a:tr h="429050">
                <a:tc>
                  <a:txBody>
                    <a:bodyPr/>
                    <a:lstStyle/>
                    <a:p>
                      <a:pPr marL="24130">
                        <a:lnSpc>
                          <a:spcPct val="107000"/>
                        </a:lnSpc>
                        <a:spcAft>
                          <a:spcPts val="0"/>
                        </a:spcAft>
                      </a:pPr>
                      <a:r>
                        <a:rPr lang="en-US" sz="1100" dirty="0" err="1">
                          <a:effectLst/>
                          <a:latin typeface="Times New Roman" panose="02020603050405020304" pitchFamily="18" charset="0"/>
                          <a:cs typeface="Times New Roman" panose="02020603050405020304" pitchFamily="18" charset="0"/>
                        </a:rPr>
                        <a:t>Sr.No</a:t>
                      </a:r>
                      <a:r>
                        <a:rPr lang="en-US" sz="1100" dirty="0">
                          <a:effectLst/>
                          <a:latin typeface="Times New Roman" panose="02020603050405020304" pitchFamily="18" charset="0"/>
                          <a:cs typeface="Times New Roman" panose="02020603050405020304" pitchFamily="18" charset="0"/>
                        </a:rPr>
                        <a:t>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Title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Year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Study Type/ Approach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795"/>
                        </a:spcAft>
                      </a:pPr>
                      <a:r>
                        <a:rPr lang="en-US" sz="1100">
                          <a:effectLst/>
                          <a:latin typeface="Times New Roman" panose="02020603050405020304" pitchFamily="18" charset="0"/>
                          <a:cs typeface="Times New Roman" panose="02020603050405020304" pitchFamily="18" charset="0"/>
                        </a:rPr>
                        <a:t>  Objective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Limitations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3353278665"/>
                  </a:ext>
                </a:extLst>
              </a:tr>
              <a:tr h="973747">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1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The Case for AI-</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Powered Legal Aid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2023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Analytical and qualitative study examining the role of AI in enhancing access to justice.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99000"/>
                        </a:lnSpc>
                        <a:spcAft>
                          <a:spcPts val="0"/>
                        </a:spcAft>
                      </a:pPr>
                      <a:r>
                        <a:rPr lang="en-US" sz="1100">
                          <a:effectLst/>
                          <a:latin typeface="Times New Roman" panose="02020603050405020304" pitchFamily="18" charset="0"/>
                          <a:cs typeface="Times New Roman" panose="02020603050405020304" pitchFamily="18" charset="0"/>
                        </a:rPr>
                        <a:t>To analyze how AI-powered legal aid tools like </a:t>
                      </a:r>
                      <a:endParaRPr lang="en-IN" sz="1100">
                        <a:effectLst/>
                        <a:latin typeface="Times New Roman" panose="02020603050405020304" pitchFamily="18" charset="0"/>
                        <a:cs typeface="Times New Roman" panose="02020603050405020304" pitchFamily="18" charset="0"/>
                      </a:endParaRPr>
                    </a:p>
                    <a:p>
                      <a:pPr marR="16510">
                        <a:lnSpc>
                          <a:spcPct val="107000"/>
                        </a:lnSpc>
                        <a:spcAft>
                          <a:spcPts val="0"/>
                        </a:spcAft>
                      </a:pPr>
                      <a:r>
                        <a:rPr lang="en-US" sz="1100">
                          <a:effectLst/>
                          <a:latin typeface="Times New Roman" panose="02020603050405020304" pitchFamily="18" charset="0"/>
                          <a:cs typeface="Times New Roman" panose="02020603050405020304" pitchFamily="18" charset="0"/>
                        </a:rPr>
                        <a:t>MyOpenCourt can improve access to justice  legal processes.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Limited empirical validation, privacy and security risks, digital divide issues, and concerns over unauthorized practice of law.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2703827912"/>
                  </a:ext>
                </a:extLst>
              </a:tr>
              <a:tr h="941774">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AI-powered decisionmaking in facilitating insurance claim dispute resolution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2023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Analytical and conceptual study using comparative analysis to evaluate AI’s role in transforming the legal sector.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marR="29845">
                        <a:lnSpc>
                          <a:spcPct val="99000"/>
                        </a:lnSpc>
                        <a:spcAft>
                          <a:spcPts val="5"/>
                        </a:spcAft>
                      </a:pPr>
                      <a:r>
                        <a:rPr lang="en-US" sz="1100">
                          <a:effectLst/>
                          <a:latin typeface="Times New Roman" panose="02020603050405020304" pitchFamily="18" charset="0"/>
                          <a:cs typeface="Times New Roman" panose="02020603050405020304" pitchFamily="18" charset="0"/>
                        </a:rPr>
                        <a:t>To explore how AI applications can enhance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judicial efficiency, accuracy in the legal system.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Challenges include ethical issues, lack of legal framework, data privacy concerns, and limited technological infrastructure.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2885353093"/>
                  </a:ext>
                </a:extLst>
              </a:tr>
              <a:tr h="1035596">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3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99000"/>
                        </a:lnSpc>
                        <a:spcAft>
                          <a:spcPts val="0"/>
                        </a:spcAft>
                      </a:pPr>
                      <a:r>
                        <a:rPr lang="en-US" sz="1100">
                          <a:effectLst/>
                          <a:latin typeface="Times New Roman" panose="02020603050405020304" pitchFamily="18" charset="0"/>
                          <a:cs typeface="Times New Roman" panose="02020603050405020304" pitchFamily="18" charset="0"/>
                        </a:rPr>
                        <a:t>Predictive Modelling in Legal DecisionMaking: Leveraging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Machine Learning for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Forecasting Legal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Outcomes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2024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Descriptive and analytical study examining the integration of AI in the legal sector.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To highlight how AI enhances efficiency, transparency, and decision-making in law.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Ethical concerns, data </a:t>
                      </a:r>
                      <a:endParaRPr lang="en-IN" sz="1100">
                        <a:effectLst/>
                        <a:latin typeface="Times New Roman" panose="02020603050405020304" pitchFamily="18" charset="0"/>
                        <a:cs typeface="Times New Roman" panose="02020603050405020304" pitchFamily="18" charset="0"/>
                      </a:endParaRPr>
                    </a:p>
                    <a:p>
                      <a:pPr marR="7620">
                        <a:lnSpc>
                          <a:spcPct val="107000"/>
                        </a:lnSpc>
                        <a:spcAft>
                          <a:spcPts val="0"/>
                        </a:spcAft>
                      </a:pPr>
                      <a:r>
                        <a:rPr lang="en-US" sz="1100">
                          <a:effectLst/>
                          <a:latin typeface="Times New Roman" panose="02020603050405020304" pitchFamily="18" charset="0"/>
                          <a:cs typeface="Times New Roman" panose="02020603050405020304" pitchFamily="18" charset="0"/>
                        </a:rPr>
                        <a:t>bias, lack of regulation, and dependency on technology.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2958893210"/>
                  </a:ext>
                </a:extLst>
              </a:tr>
              <a:tr h="1293192">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4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99000"/>
                        </a:lnSpc>
                        <a:spcAft>
                          <a:spcPts val="10"/>
                        </a:spcAft>
                      </a:pPr>
                      <a:r>
                        <a:rPr lang="en-US" sz="1100" dirty="0">
                          <a:effectLst/>
                          <a:latin typeface="Times New Roman" panose="02020603050405020304" pitchFamily="18" charset="0"/>
                          <a:cs typeface="Times New Roman" panose="02020603050405020304" pitchFamily="18" charset="0"/>
                        </a:rPr>
                        <a:t>Predictive Justice in Indian Courts: </a:t>
                      </a:r>
                      <a:endParaRPr lang="en-IN" sz="1100" dirty="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Machine Learning </a:t>
                      </a:r>
                      <a:endParaRPr lang="en-IN" sz="1100" dirty="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Approaches to Case </a:t>
                      </a:r>
                      <a:endParaRPr lang="en-IN" sz="1100" dirty="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Outcome Forecasting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2024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Sophisticated, multi-layered machine learning,Deep Neural Networks, SVM,NLP predictive legal analytics framework tailored to the Indian judicial system.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99000"/>
                        </a:lnSpc>
                        <a:spcAft>
                          <a:spcPts val="5"/>
                        </a:spcAft>
                      </a:pPr>
                      <a:r>
                        <a:rPr lang="en-US" sz="1100" dirty="0">
                          <a:effectLst/>
                          <a:latin typeface="Times New Roman" panose="02020603050405020304" pitchFamily="18" charset="0"/>
                          <a:cs typeface="Times New Roman" panose="02020603050405020304" pitchFamily="18" charset="0"/>
                        </a:rPr>
                        <a:t>Develop a model for predicting judicial </a:t>
                      </a:r>
                      <a:r>
                        <a:rPr lang="en-US" sz="1100" dirty="0" err="1">
                          <a:effectLst/>
                          <a:latin typeface="Times New Roman" panose="02020603050405020304" pitchFamily="18" charset="0"/>
                          <a:cs typeface="Times New Roman" panose="02020603050405020304" pitchFamily="18" charset="0"/>
                        </a:rPr>
                        <a:t>outcomes,analyze</a:t>
                      </a:r>
                      <a:r>
                        <a:rPr lang="en-US" sz="1100" dirty="0">
                          <a:effectLst/>
                          <a:latin typeface="Times New Roman" panose="02020603050405020304" pitchFamily="18" charset="0"/>
                          <a:cs typeface="Times New Roman" panose="02020603050405020304" pitchFamily="18" charset="0"/>
                        </a:rPr>
                        <a:t> </a:t>
                      </a:r>
                      <a:endParaRPr lang="en-IN" sz="1100" dirty="0">
                        <a:effectLst/>
                        <a:latin typeface="Times New Roman" panose="02020603050405020304" pitchFamily="18" charset="0"/>
                        <a:cs typeface="Times New Roman" panose="02020603050405020304" pitchFamily="18" charset="0"/>
                      </a:endParaRPr>
                    </a:p>
                    <a:p>
                      <a:pPr marR="6350">
                        <a:lnSpc>
                          <a:spcPct val="107000"/>
                        </a:lnSpc>
                        <a:spcAft>
                          <a:spcPts val="0"/>
                        </a:spcAft>
                      </a:pPr>
                      <a:r>
                        <a:rPr lang="en-US" sz="1100" dirty="0">
                          <a:effectLst/>
                          <a:latin typeface="Times New Roman" panose="02020603050405020304" pitchFamily="18" charset="0"/>
                          <a:cs typeface="Times New Roman" panose="02020603050405020304" pitchFamily="18" charset="0"/>
                        </a:rPr>
                        <a:t>factors influencing judicial </a:t>
                      </a:r>
                      <a:r>
                        <a:rPr lang="en-US" sz="1100" dirty="0" err="1">
                          <a:effectLst/>
                          <a:latin typeface="Times New Roman" panose="02020603050405020304" pitchFamily="18" charset="0"/>
                          <a:cs typeface="Times New Roman" panose="02020603050405020304" pitchFamily="18" charset="0"/>
                        </a:rPr>
                        <a:t>decisionmaking</a:t>
                      </a:r>
                      <a:r>
                        <a:rPr lang="en-US" sz="1100" dirty="0">
                          <a:effectLst/>
                          <a:latin typeface="Times New Roman" panose="02020603050405020304" pitchFamily="18" charset="0"/>
                          <a:cs typeface="Times New Roman" panose="02020603050405020304" pitchFamily="18" charset="0"/>
                        </a:rPr>
                        <a:t> in the Indian context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Limited historical data availability, challenges in representing contextual nuance, and potential algorithmic biases.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1094" marR="27439" marT="5204" marB="0"/>
                </a:tc>
                <a:extLst>
                  <a:ext uri="{0D108BD9-81ED-4DB2-BD59-A6C34878D82A}">
                    <a16:rowId xmlns:a16="http://schemas.microsoft.com/office/drawing/2014/main" val="3506438260"/>
                  </a:ext>
                </a:extLst>
              </a:tr>
            </a:tbl>
          </a:graphicData>
        </a:graphic>
      </p:graphicFrame>
      <p:sp>
        <p:nvSpPr>
          <p:cNvPr id="4" name="TextBox 7">
            <a:extLst>
              <a:ext uri="{FF2B5EF4-FFF2-40B4-BE49-F238E27FC236}">
                <a16:creationId xmlns:a16="http://schemas.microsoft.com/office/drawing/2014/main" id="{C4D3329F-63BD-CFCF-951E-A2081300F356}"/>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5727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9</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p:cNvGraphicFramePr>
            <a:graphicFrameLocks noGrp="1"/>
          </p:cNvGraphicFramePr>
          <p:nvPr>
            <p:extLst>
              <p:ext uri="{D42A27DB-BD31-4B8C-83A1-F6EECF244321}">
                <p14:modId xmlns:p14="http://schemas.microsoft.com/office/powerpoint/2010/main" val="2438440134"/>
              </p:ext>
            </p:extLst>
          </p:nvPr>
        </p:nvGraphicFramePr>
        <p:xfrm>
          <a:off x="107506" y="1588022"/>
          <a:ext cx="8856982" cy="5201810"/>
        </p:xfrm>
        <a:graphic>
          <a:graphicData uri="http://schemas.openxmlformats.org/drawingml/2006/table">
            <a:tbl>
              <a:tblPr firstCol="1" bandRow="1">
                <a:tableStyleId>{5C22544A-7EE6-4342-B048-85BDC9FD1C3A}</a:tableStyleId>
              </a:tblPr>
              <a:tblGrid>
                <a:gridCol w="664622">
                  <a:extLst>
                    <a:ext uri="{9D8B030D-6E8A-4147-A177-3AD203B41FA5}">
                      <a16:colId xmlns:a16="http://schemas.microsoft.com/office/drawing/2014/main" val="1691960736"/>
                    </a:ext>
                  </a:extLst>
                </a:gridCol>
                <a:gridCol w="1750839">
                  <a:extLst>
                    <a:ext uri="{9D8B030D-6E8A-4147-A177-3AD203B41FA5}">
                      <a16:colId xmlns:a16="http://schemas.microsoft.com/office/drawing/2014/main" val="764689375"/>
                    </a:ext>
                  </a:extLst>
                </a:gridCol>
                <a:gridCol w="711659">
                  <a:extLst>
                    <a:ext uri="{9D8B030D-6E8A-4147-A177-3AD203B41FA5}">
                      <a16:colId xmlns:a16="http://schemas.microsoft.com/office/drawing/2014/main" val="1709917520"/>
                    </a:ext>
                  </a:extLst>
                </a:gridCol>
                <a:gridCol w="1822267">
                  <a:extLst>
                    <a:ext uri="{9D8B030D-6E8A-4147-A177-3AD203B41FA5}">
                      <a16:colId xmlns:a16="http://schemas.microsoft.com/office/drawing/2014/main" val="1751763813"/>
                    </a:ext>
                  </a:extLst>
                </a:gridCol>
                <a:gridCol w="1584466">
                  <a:extLst>
                    <a:ext uri="{9D8B030D-6E8A-4147-A177-3AD203B41FA5}">
                      <a16:colId xmlns:a16="http://schemas.microsoft.com/office/drawing/2014/main" val="1860428459"/>
                    </a:ext>
                  </a:extLst>
                </a:gridCol>
                <a:gridCol w="2323129">
                  <a:extLst>
                    <a:ext uri="{9D8B030D-6E8A-4147-A177-3AD203B41FA5}">
                      <a16:colId xmlns:a16="http://schemas.microsoft.com/office/drawing/2014/main" val="1419533133"/>
                    </a:ext>
                  </a:extLst>
                </a:gridCol>
              </a:tblGrid>
              <a:tr h="1100078">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5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Ai in legal analytics : balancing efficiency, accuracy, and ethics in contract and predictive analysis .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2023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99000"/>
                        </a:lnSpc>
                        <a:spcAft>
                          <a:spcPts val="5"/>
                        </a:spcAft>
                      </a:pPr>
                      <a:r>
                        <a:rPr lang="en-US" sz="1100">
                          <a:effectLst/>
                          <a:latin typeface="Times New Roman" panose="02020603050405020304" pitchFamily="18" charset="0"/>
                          <a:cs typeface="Times New Roman" panose="02020603050405020304" pitchFamily="18" charset="0"/>
                        </a:rPr>
                        <a:t>Analytical essay/review discussing the role, benefits,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challenges of AI in Legal Analytics, focusing on contract and predictive analysis.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marR="17145">
                        <a:lnSpc>
                          <a:spcPct val="99000"/>
                        </a:lnSpc>
                        <a:spcAft>
                          <a:spcPts val="0"/>
                        </a:spcAft>
                      </a:pPr>
                      <a:r>
                        <a:rPr lang="en-US" sz="1100">
                          <a:effectLst/>
                          <a:latin typeface="Times New Roman" panose="02020603050405020304" pitchFamily="18" charset="0"/>
                          <a:cs typeface="Times New Roman" panose="02020603050405020304" pitchFamily="18" charset="0"/>
                        </a:rPr>
                        <a:t>Analyze how AI  revolutionized the legal system, discussing shortcomings of AI systems, recommending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their integration into legal work.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gn="just">
                        <a:lnSpc>
                          <a:spcPct val="99000"/>
                        </a:lnSpc>
                        <a:spcAft>
                          <a:spcPts val="0"/>
                        </a:spcAft>
                      </a:pPr>
                      <a:r>
                        <a:rPr lang="en-US" sz="1100">
                          <a:effectLst/>
                          <a:latin typeface="Times New Roman" panose="02020603050405020304" pitchFamily="18" charset="0"/>
                          <a:cs typeface="Times New Roman" panose="02020603050405020304" pitchFamily="18" charset="0"/>
                        </a:rPr>
                        <a:t>Challenges with accuracy and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reliability  , bias and fairness from training data , issues of professional </a:t>
                      </a:r>
                      <a:endParaRPr lang="en-IN" sz="1100">
                        <a:effectLst/>
                        <a:latin typeface="Times New Roman" panose="02020603050405020304" pitchFamily="18" charset="0"/>
                        <a:cs typeface="Times New Roman" panose="02020603050405020304" pitchFamily="18" charset="0"/>
                      </a:endParaRPr>
                    </a:p>
                    <a:p>
                      <a:pPr marR="18415">
                        <a:lnSpc>
                          <a:spcPct val="107000"/>
                        </a:lnSpc>
                        <a:spcAft>
                          <a:spcPts val="0"/>
                        </a:spcAft>
                      </a:pPr>
                      <a:r>
                        <a:rPr lang="en-US" sz="1100">
                          <a:effectLst/>
                          <a:latin typeface="Times New Roman" panose="02020603050405020304" pitchFamily="18" charset="0"/>
                          <a:cs typeface="Times New Roman" panose="02020603050405020304" pitchFamily="18" charset="0"/>
                        </a:rPr>
                        <a:t>integrity/technological competence , and data privacy concerns.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extLst>
                  <a:ext uri="{0D108BD9-81ED-4DB2-BD59-A6C34878D82A}">
                    <a16:rowId xmlns:a16="http://schemas.microsoft.com/office/drawing/2014/main" val="123721677"/>
                  </a:ext>
                </a:extLst>
              </a:tr>
              <a:tr h="1329561">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6</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Artificial intelligence as  evidence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2024</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marR="26035">
                        <a:lnSpc>
                          <a:spcPct val="107000"/>
                        </a:lnSpc>
                        <a:spcAft>
                          <a:spcPts val="0"/>
                        </a:spcAft>
                      </a:pPr>
                      <a:r>
                        <a:rPr lang="en-US" sz="1100">
                          <a:effectLst/>
                          <a:latin typeface="Times New Roman" panose="02020603050405020304" pitchFamily="18" charset="0"/>
                          <a:cs typeface="Times New Roman" panose="02020603050405020304" pitchFamily="18" charset="0"/>
                        </a:rPr>
                        <a:t>Analysis of the legal and technical issues governing the admissibility of Artificial Intelligence (AI) evidence in civil and criminal trials under the Federal Rules of Evidence.</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Provide a practical overview and a systematic framework for lawyers and judges to evaluate the validity and reliability of AI evidence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Bias (in data, programming, and human interpretation), lack of robust testing for validity and reliability, function creep, lack of transparency/</a:t>
                      </a:r>
                      <a:r>
                        <a:rPr lang="en-US" sz="1100" dirty="0" err="1">
                          <a:effectLst/>
                          <a:latin typeface="Times New Roman" panose="02020603050405020304" pitchFamily="18" charset="0"/>
                          <a:cs typeface="Times New Roman" panose="02020603050405020304" pitchFamily="18" charset="0"/>
                        </a:rPr>
                        <a:t>explainability</a:t>
                      </a:r>
                      <a:r>
                        <a:rPr lang="en-US" sz="1100" dirty="0">
                          <a:effectLst/>
                          <a:latin typeface="Times New Roman" panose="02020603050405020304" pitchFamily="18" charset="0"/>
                          <a:cs typeface="Times New Roman" panose="02020603050405020304" pitchFamily="18" charset="0"/>
                        </a:rPr>
                        <a:t>, lack of accountability, and lack of resilience</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extLst>
                  <a:ext uri="{0D108BD9-81ED-4DB2-BD59-A6C34878D82A}">
                    <a16:rowId xmlns:a16="http://schemas.microsoft.com/office/drawing/2014/main" val="2628329247"/>
                  </a:ext>
                </a:extLst>
              </a:tr>
              <a:tr h="1345206">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7</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Agentic AI-Driven Process Optimization and Cost Reduction in Legal Services Using </a:t>
                      </a:r>
                      <a:r>
                        <a:rPr lang="en-US" sz="1100" dirty="0" err="1">
                          <a:effectLst/>
                          <a:latin typeface="Times New Roman" panose="02020603050405020304" pitchFamily="18" charset="0"/>
                          <a:cs typeface="Times New Roman" panose="02020603050405020304" pitchFamily="18" charset="0"/>
                        </a:rPr>
                        <a:t>DeepSeek</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2025</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Development and empirical evaluation of LegalMind, a novel agentic AI framework leveraging the DeepSeek R1 LLM for intelligent legal process automation cost reduction.</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Design implement a transformer-based agentic AI framework to perform human-like legal reasoning, enable continuous learning,</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Struggles with complex legal reasoning and ethical dilemmas, data sensitivity and privacy concerns, challenges with cross-jurisdictional adaptability, and high computational resource requirements for smaller firms.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extLst>
                  <a:ext uri="{0D108BD9-81ED-4DB2-BD59-A6C34878D82A}">
                    <a16:rowId xmlns:a16="http://schemas.microsoft.com/office/drawing/2014/main" val="2145777429"/>
                  </a:ext>
                </a:extLst>
              </a:tr>
              <a:tr h="1162477">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8</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Outcome Prediction in the Practice of Law</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2020</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Analytical article examining the traditional tools  and new data science/AI approaches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Examine traditional legal prediction tools and their limitations, describe how new data-science enhance legal outcome prediction.</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Lack of key empirical data (e.g., settlement data and detailed facts in published opinions) and extra-legal considerations  make accurate prediction difficult, even for AI.</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3412" marR="23314" marT="4422" marB="0"/>
                </a:tc>
                <a:extLst>
                  <a:ext uri="{0D108BD9-81ED-4DB2-BD59-A6C34878D82A}">
                    <a16:rowId xmlns:a16="http://schemas.microsoft.com/office/drawing/2014/main" val="4223147954"/>
                  </a:ext>
                </a:extLst>
              </a:tr>
            </a:tbl>
          </a:graphicData>
        </a:graphic>
      </p:graphicFrame>
      <p:sp>
        <p:nvSpPr>
          <p:cNvPr id="3" name="TextBox 7">
            <a:extLst>
              <a:ext uri="{FF2B5EF4-FFF2-40B4-BE49-F238E27FC236}">
                <a16:creationId xmlns:a16="http://schemas.microsoft.com/office/drawing/2014/main" id="{71AD23B9-4671-BD8F-3EB3-51AAD39F9D69}"/>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0210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10</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p:cNvGraphicFramePr>
            <a:graphicFrameLocks noGrp="1"/>
          </p:cNvGraphicFramePr>
          <p:nvPr>
            <p:extLst>
              <p:ext uri="{D42A27DB-BD31-4B8C-83A1-F6EECF244321}">
                <p14:modId xmlns:p14="http://schemas.microsoft.com/office/powerpoint/2010/main" val="2205721832"/>
              </p:ext>
            </p:extLst>
          </p:nvPr>
        </p:nvGraphicFramePr>
        <p:xfrm>
          <a:off x="36513" y="1600200"/>
          <a:ext cx="8927974" cy="5004246"/>
        </p:xfrm>
        <a:graphic>
          <a:graphicData uri="http://schemas.openxmlformats.org/drawingml/2006/table">
            <a:tbl>
              <a:tblPr firstCol="1" bandRow="1">
                <a:tableStyleId>{5C22544A-7EE6-4342-B048-85BDC9FD1C3A}</a:tableStyleId>
              </a:tblPr>
              <a:tblGrid>
                <a:gridCol w="669950">
                  <a:extLst>
                    <a:ext uri="{9D8B030D-6E8A-4147-A177-3AD203B41FA5}">
                      <a16:colId xmlns:a16="http://schemas.microsoft.com/office/drawing/2014/main" val="2210344807"/>
                    </a:ext>
                  </a:extLst>
                </a:gridCol>
                <a:gridCol w="1764872">
                  <a:extLst>
                    <a:ext uri="{9D8B030D-6E8A-4147-A177-3AD203B41FA5}">
                      <a16:colId xmlns:a16="http://schemas.microsoft.com/office/drawing/2014/main" val="620658677"/>
                    </a:ext>
                  </a:extLst>
                </a:gridCol>
                <a:gridCol w="717365">
                  <a:extLst>
                    <a:ext uri="{9D8B030D-6E8A-4147-A177-3AD203B41FA5}">
                      <a16:colId xmlns:a16="http://schemas.microsoft.com/office/drawing/2014/main" val="458887391"/>
                    </a:ext>
                  </a:extLst>
                </a:gridCol>
                <a:gridCol w="1836872">
                  <a:extLst>
                    <a:ext uri="{9D8B030D-6E8A-4147-A177-3AD203B41FA5}">
                      <a16:colId xmlns:a16="http://schemas.microsoft.com/office/drawing/2014/main" val="284026964"/>
                    </a:ext>
                  </a:extLst>
                </a:gridCol>
                <a:gridCol w="1597166">
                  <a:extLst>
                    <a:ext uri="{9D8B030D-6E8A-4147-A177-3AD203B41FA5}">
                      <a16:colId xmlns:a16="http://schemas.microsoft.com/office/drawing/2014/main" val="691670141"/>
                    </a:ext>
                  </a:extLst>
                </a:gridCol>
                <a:gridCol w="2341749">
                  <a:extLst>
                    <a:ext uri="{9D8B030D-6E8A-4147-A177-3AD203B41FA5}">
                      <a16:colId xmlns:a16="http://schemas.microsoft.com/office/drawing/2014/main" val="2066729362"/>
                    </a:ext>
                  </a:extLst>
                </a:gridCol>
              </a:tblGrid>
              <a:tr h="1082462">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9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AI for legal justice </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2025</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Analytical review discussing the need for and the various components of a comprehensive ethical framework for the utilization of ai in the judicial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Propose a comprehensive, multi-layered ethical framework for the use of AI in the judicial system that safeguards the rule of law, constitutional values.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The fundamental nature of the study is a theoretical proposal of an ethical framework, so it does not contain empirical/technical limitations, but addresses the risks inherent to AI in law</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extLst>
                  <a:ext uri="{0D108BD9-81ED-4DB2-BD59-A6C34878D82A}">
                    <a16:rowId xmlns:a16="http://schemas.microsoft.com/office/drawing/2014/main" val="2167734042"/>
                  </a:ext>
                </a:extLst>
              </a:tr>
              <a:tr h="886345">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10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Legal Judgment Prediction (LJP) Amid the Advent of Autonomous AI Legal Reasoning</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2023</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Analytical review investigating the risks and benefits of Algorithmic Decision Systems at the intersection of AI proposing a regulatory framework.</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Critically examine ADS risks and benefits to propose a comprehensive regulatory and ethical framework.</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Algorithmic opacity, difficulty mitigating bias, and challenges from the dynamic nature of predictive systems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extLst>
                  <a:ext uri="{0D108BD9-81ED-4DB2-BD59-A6C34878D82A}">
                    <a16:rowId xmlns:a16="http://schemas.microsoft.com/office/drawing/2014/main" val="434059132"/>
                  </a:ext>
                </a:extLst>
              </a:tr>
              <a:tr h="1376637">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11</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Legal &amp; Ethical Implications of Predictive Digital Techniques in the Judicial Criminal Proceedings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2025</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Analytical review focused on identifying and mitigating the legal and ethical challenges associated with the adoption of AI in the justice system to ensure compliance with the Rule of Law.</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Analyze the legal, ethical, and societal challenges posed by AI in the justice system (e.g., judicial and public administration) and propose solutions that respect the fundamental rights and the Rule of Law.</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Algorithmic bias/fairness, lack of transparency (black box), issues of accountability, potential for "robot judges" or a status quo effect (mechanical application of law), and concerns about the reliability of AI outputs.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extLst>
                  <a:ext uri="{0D108BD9-81ED-4DB2-BD59-A6C34878D82A}">
                    <a16:rowId xmlns:a16="http://schemas.microsoft.com/office/drawing/2014/main" val="1259457526"/>
                  </a:ext>
                </a:extLst>
              </a:tr>
              <a:tr h="1180520">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12</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effectLst/>
                        <a:latin typeface="Times New Roman" panose="02020603050405020304" pitchFamily="18" charset="0"/>
                        <a:cs typeface="Times New Roman" panose="02020603050405020304" pitchFamily="18" charset="0"/>
                      </a:endParaRPr>
                    </a:p>
                    <a:p>
                      <a:pPr>
                        <a:lnSpc>
                          <a:spcPct val="107000"/>
                        </a:lnSpc>
                        <a:spcAft>
                          <a:spcPts val="0"/>
                        </a:spcAft>
                      </a:pPr>
                      <a:r>
                        <a:rPr lang="en-US" sz="1100">
                          <a:effectLst/>
                          <a:latin typeface="Times New Roman" panose="02020603050405020304" pitchFamily="18" charset="0"/>
                          <a:cs typeface="Times New Roman" panose="02020603050405020304" pitchFamily="18" charset="0"/>
                        </a:rPr>
                        <a:t>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Artificial intelligence in the courtroom : The delivery of JUSTICE IN THE AGE OF MACHINE LEARNING </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2023</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a novel 'Predictive Justice Score' (PJS) metric to measure the predictive capacity of machine learning (ML) models in judicial decision-making, along with a discussion of ethical and legal concerns.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a:effectLst/>
                          <a:latin typeface="Times New Roman" panose="02020603050405020304" pitchFamily="18" charset="0"/>
                          <a:cs typeface="Times New Roman" panose="02020603050405020304" pitchFamily="18" charset="0"/>
                        </a:rPr>
                        <a:t> Propose a new metric, the Predictive Justice Score (PJS), for evaluating the capability of ML algorithms to predict judicial decisions and discuss the related legal and ethical challenges.</a:t>
                      </a:r>
                      <a:endParaRPr lang="en-IN" sz="1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tc>
                  <a:txBody>
                    <a:bodyPr/>
                    <a:lstStyle/>
                    <a:p>
                      <a:pPr>
                        <a:lnSpc>
                          <a:spcPct val="107000"/>
                        </a:lnSpc>
                        <a:spcAft>
                          <a:spcPts val="0"/>
                        </a:spcAft>
                      </a:pPr>
                      <a:r>
                        <a:rPr lang="en-US" sz="1100" dirty="0">
                          <a:effectLst/>
                          <a:latin typeface="Times New Roman" panose="02020603050405020304" pitchFamily="18" charset="0"/>
                          <a:cs typeface="Times New Roman" panose="02020603050405020304" pitchFamily="18" charset="0"/>
                        </a:rPr>
                        <a:t> Lack of a definitive 'Ground Truth' in judicial decisions for comparison, susceptibility to data bias and algorithmic opacity, and the challenge of incorporating the nuance of constitutional and legal interpretation into quantitative metrics like the PJS.</a:t>
                      </a:r>
                      <a:endParaRPr lang="en-IN" sz="1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7488" marR="20132" marT="3818" marB="0"/>
                </a:tc>
                <a:extLst>
                  <a:ext uri="{0D108BD9-81ED-4DB2-BD59-A6C34878D82A}">
                    <a16:rowId xmlns:a16="http://schemas.microsoft.com/office/drawing/2014/main" val="2178424800"/>
                  </a:ext>
                </a:extLst>
              </a:tr>
            </a:tbl>
          </a:graphicData>
        </a:graphic>
      </p:graphicFrame>
      <p:sp>
        <p:nvSpPr>
          <p:cNvPr id="4" name="TextBox 7">
            <a:extLst>
              <a:ext uri="{FF2B5EF4-FFF2-40B4-BE49-F238E27FC236}">
                <a16:creationId xmlns:a16="http://schemas.microsoft.com/office/drawing/2014/main" id="{C9F74DB3-27D2-E05D-37E3-EA0B15095D55}"/>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4503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11</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9285" y="1582511"/>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Implementation of Work / Result</a:t>
            </a:r>
          </a:p>
        </p:txBody>
      </p:sp>
      <p:pic>
        <p:nvPicPr>
          <p:cNvPr id="6" name="Picture 5">
            <a:extLst>
              <a:ext uri="{FF2B5EF4-FFF2-40B4-BE49-F238E27FC236}">
                <a16:creationId xmlns:a16="http://schemas.microsoft.com/office/drawing/2014/main" id="{B550B607-3550-E8D6-1A1F-FA74D819B7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0316" y="2159666"/>
            <a:ext cx="7623367" cy="3334700"/>
          </a:xfrm>
          <a:prstGeom prst="rect">
            <a:avLst/>
          </a:prstGeom>
          <a:ln>
            <a:solidFill>
              <a:schemeClr val="tx1"/>
            </a:solidFill>
          </a:ln>
        </p:spPr>
      </p:pic>
      <p:sp>
        <p:nvSpPr>
          <p:cNvPr id="7" name="TextBox 7">
            <a:extLst>
              <a:ext uri="{FF2B5EF4-FFF2-40B4-BE49-F238E27FC236}">
                <a16:creationId xmlns:a16="http://schemas.microsoft.com/office/drawing/2014/main" id="{AD5BABF8-9631-6532-FD99-1F9B92F28C53}"/>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3378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55BC6-21DE-07FD-8731-7B5886010293}"/>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BC5A1DD7-1679-2B1A-BE7A-EBB2FC8FB55C}"/>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C450B3D3-8620-BDF2-A444-DFC659D750C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7B3C44ED-C315-4588-813A-DEEA2C046B33}"/>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AC54C80F-A69C-C310-433A-FDA84990D3A4}"/>
              </a:ext>
            </a:extLst>
          </p:cNvPr>
          <p:cNvSpPr>
            <a:spLocks noGrp="1"/>
          </p:cNvSpPr>
          <p:nvPr>
            <p:ph type="sldNum" sz="quarter" idx="12"/>
          </p:nvPr>
        </p:nvSpPr>
        <p:spPr/>
        <p:txBody>
          <a:bodyPr/>
          <a:lstStyle/>
          <a:p>
            <a:fld id="{1EC248AB-E565-412B-9D95-9B07D6A4F3F3}" type="slidenum">
              <a:rPr lang="en-GB" b="1" smtClean="0">
                <a:solidFill>
                  <a:schemeClr val="tx1"/>
                </a:solidFill>
              </a:rPr>
              <a:pPr/>
              <a:t>12</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5374F043-E337-ABA3-10F3-1730FC7E0B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D7B89A7-D202-8B58-AF0E-A7A84CE49A4B}"/>
              </a:ext>
            </a:extLst>
          </p:cNvPr>
          <p:cNvSpPr/>
          <p:nvPr/>
        </p:nvSpPr>
        <p:spPr>
          <a:xfrm>
            <a:off x="59285" y="1582511"/>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Implementation of Work / Result</a:t>
            </a:r>
          </a:p>
        </p:txBody>
      </p:sp>
      <p:pic>
        <p:nvPicPr>
          <p:cNvPr id="5" name="Picture 4">
            <a:extLst>
              <a:ext uri="{FF2B5EF4-FFF2-40B4-BE49-F238E27FC236}">
                <a16:creationId xmlns:a16="http://schemas.microsoft.com/office/drawing/2014/main" id="{01E0D771-4126-5077-8A38-204C6D1B1A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7544" y="2284349"/>
            <a:ext cx="8352928" cy="3379495"/>
          </a:xfrm>
          <a:prstGeom prst="rect">
            <a:avLst/>
          </a:prstGeom>
          <a:ln>
            <a:solidFill>
              <a:schemeClr val="tx1"/>
            </a:solidFill>
          </a:ln>
        </p:spPr>
      </p:pic>
      <p:sp>
        <p:nvSpPr>
          <p:cNvPr id="7" name="TextBox 7">
            <a:extLst>
              <a:ext uri="{FF2B5EF4-FFF2-40B4-BE49-F238E27FC236}">
                <a16:creationId xmlns:a16="http://schemas.microsoft.com/office/drawing/2014/main" id="{D00AE7BA-953A-E95B-0524-C3CCAFEB4AFB}"/>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4793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01378-38D4-A630-BDC7-EE07101EF8DE}"/>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9A1D082D-A204-5EBF-FD7D-E2403B7A9CDE}"/>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6F8CE13C-7BDD-40A8-D6DE-762320E5A7C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A0C29D1F-D522-A20A-B2F1-D2FD38316BB7}"/>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51CE8FF3-847A-87FA-3907-483653B0D413}"/>
              </a:ext>
            </a:extLst>
          </p:cNvPr>
          <p:cNvSpPr>
            <a:spLocks noGrp="1"/>
          </p:cNvSpPr>
          <p:nvPr>
            <p:ph type="sldNum" sz="quarter" idx="12"/>
          </p:nvPr>
        </p:nvSpPr>
        <p:spPr/>
        <p:txBody>
          <a:bodyPr/>
          <a:lstStyle/>
          <a:p>
            <a:fld id="{1EC248AB-E565-412B-9D95-9B07D6A4F3F3}" type="slidenum">
              <a:rPr lang="en-GB" b="1" smtClean="0">
                <a:solidFill>
                  <a:schemeClr val="tx1"/>
                </a:solidFill>
              </a:rPr>
              <a:pPr/>
              <a:t>13</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8969F686-11C2-7336-106A-792DB8DC70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9CBAED3-E320-931B-85F9-8C2782651E56}"/>
              </a:ext>
            </a:extLst>
          </p:cNvPr>
          <p:cNvSpPr/>
          <p:nvPr/>
        </p:nvSpPr>
        <p:spPr>
          <a:xfrm>
            <a:off x="59285" y="1582511"/>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Implementation of Work / Result</a:t>
            </a:r>
          </a:p>
        </p:txBody>
      </p:sp>
      <p:sp>
        <p:nvSpPr>
          <p:cNvPr id="7" name="TextBox 7">
            <a:extLst>
              <a:ext uri="{FF2B5EF4-FFF2-40B4-BE49-F238E27FC236}">
                <a16:creationId xmlns:a16="http://schemas.microsoft.com/office/drawing/2014/main" id="{A3F6D7D3-5918-0A5D-B689-56F38270944D}"/>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FDE756D-BDD7-A820-9B04-F44ABABDF085}"/>
              </a:ext>
            </a:extLst>
          </p:cNvPr>
          <p:cNvPicPr>
            <a:picLocks noChangeAspect="1"/>
          </p:cNvPicPr>
          <p:nvPr/>
        </p:nvPicPr>
        <p:blipFill>
          <a:blip r:embed="rId5"/>
          <a:stretch>
            <a:fillRect/>
          </a:stretch>
        </p:blipFill>
        <p:spPr>
          <a:xfrm>
            <a:off x="617917" y="2310146"/>
            <a:ext cx="8058539" cy="3495118"/>
          </a:xfrm>
          <a:prstGeom prst="rect">
            <a:avLst/>
          </a:prstGeom>
        </p:spPr>
      </p:pic>
    </p:spTree>
    <p:extLst>
      <p:ext uri="{BB962C8B-B14F-4D97-AF65-F5344CB8AC3E}">
        <p14:creationId xmlns:p14="http://schemas.microsoft.com/office/powerpoint/2010/main" val="837364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16148-D99C-43B3-030C-FAB4E7866E83}"/>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E541C203-B470-647E-A8F7-2F2B9E590A1F}"/>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CAE54825-C204-7F36-98DB-250D51EDEA9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1810DE3A-A0C0-8AA3-B6FD-1B8D163DA1ED}"/>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989BA9C-9F15-2815-1614-00B81C306D5F}"/>
              </a:ext>
            </a:extLst>
          </p:cNvPr>
          <p:cNvSpPr>
            <a:spLocks noGrp="1"/>
          </p:cNvSpPr>
          <p:nvPr>
            <p:ph type="sldNum" sz="quarter" idx="12"/>
          </p:nvPr>
        </p:nvSpPr>
        <p:spPr/>
        <p:txBody>
          <a:bodyPr/>
          <a:lstStyle/>
          <a:p>
            <a:fld id="{1EC248AB-E565-412B-9D95-9B07D6A4F3F3}" type="slidenum">
              <a:rPr lang="en-GB" b="1" smtClean="0">
                <a:solidFill>
                  <a:schemeClr val="tx1"/>
                </a:solidFill>
              </a:rPr>
              <a:pPr/>
              <a:t>14</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2322FFBA-C2A8-D34C-3D6B-291347D87E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8EC4E97-98FC-D236-99D8-7EB2255B6777}"/>
              </a:ext>
            </a:extLst>
          </p:cNvPr>
          <p:cNvSpPr/>
          <p:nvPr/>
        </p:nvSpPr>
        <p:spPr>
          <a:xfrm>
            <a:off x="59285" y="1582511"/>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Implementation of Work / Result</a:t>
            </a:r>
          </a:p>
        </p:txBody>
      </p:sp>
      <p:pic>
        <p:nvPicPr>
          <p:cNvPr id="6" name="Picture 5">
            <a:extLst>
              <a:ext uri="{FF2B5EF4-FFF2-40B4-BE49-F238E27FC236}">
                <a16:creationId xmlns:a16="http://schemas.microsoft.com/office/drawing/2014/main" id="{D747C7B4-F086-2B22-49DC-4BAB72867A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2332" y="2308372"/>
            <a:ext cx="7812360" cy="3906892"/>
          </a:xfrm>
          <a:prstGeom prst="rect">
            <a:avLst/>
          </a:prstGeom>
        </p:spPr>
      </p:pic>
      <p:sp>
        <p:nvSpPr>
          <p:cNvPr id="4" name="TextBox 7">
            <a:extLst>
              <a:ext uri="{FF2B5EF4-FFF2-40B4-BE49-F238E27FC236}">
                <a16:creationId xmlns:a16="http://schemas.microsoft.com/office/drawing/2014/main" id="{B19B5DC8-54FA-F35B-21CE-8BB76DCD85C7}"/>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4589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06A64-7036-F600-ED7F-B1CC7ECFDD33}"/>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3C7AF4BC-54DB-5E0A-26A3-F7608F43B127}"/>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F46B677F-0FD3-9EE8-EC49-A7010FB638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4D0D5A15-9997-9C7E-1F1D-B6F29717AFEF}"/>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EDDDC30D-2C43-04A4-92A7-228C90274E33}"/>
              </a:ext>
            </a:extLst>
          </p:cNvPr>
          <p:cNvSpPr>
            <a:spLocks noGrp="1"/>
          </p:cNvSpPr>
          <p:nvPr>
            <p:ph type="sldNum" sz="quarter" idx="12"/>
          </p:nvPr>
        </p:nvSpPr>
        <p:spPr/>
        <p:txBody>
          <a:bodyPr/>
          <a:lstStyle/>
          <a:p>
            <a:fld id="{1EC248AB-E565-412B-9D95-9B07D6A4F3F3}" type="slidenum">
              <a:rPr lang="en-GB" b="1" smtClean="0">
                <a:solidFill>
                  <a:schemeClr val="tx1"/>
                </a:solidFill>
              </a:rPr>
              <a:pPr/>
              <a:t>15</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8FFFF97C-6410-3430-934D-F40037FEEC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EEE1FBC-51B1-BA50-A167-24FBA0790B3F}"/>
              </a:ext>
            </a:extLst>
          </p:cNvPr>
          <p:cNvSpPr txBox="1"/>
          <p:nvPr/>
        </p:nvSpPr>
        <p:spPr>
          <a:xfrm>
            <a:off x="324036" y="1700808"/>
            <a:ext cx="8280412" cy="4524315"/>
          </a:xfrm>
          <a:prstGeom prst="rect">
            <a:avLst/>
          </a:prstGeom>
          <a:noFill/>
        </p:spPr>
        <p:txBody>
          <a:bodyPr wrap="square">
            <a:spAutoFit/>
          </a:bodyPr>
          <a:lstStyle/>
          <a:p>
            <a:r>
              <a:rPr lang="en-IN" dirty="0"/>
              <a:t>Title: Database Design (</a:t>
            </a:r>
            <a:r>
              <a:rPr lang="en-IN" dirty="0" err="1"/>
              <a:t>Supabase</a:t>
            </a:r>
            <a:r>
              <a:rPr lang="en-IN" dirty="0"/>
              <a:t> PostgreSQL)</a:t>
            </a:r>
          </a:p>
          <a:p>
            <a:endParaRPr lang="en-IN" dirty="0"/>
          </a:p>
          <a:p>
            <a:r>
              <a:rPr lang="en-IN" b="1" dirty="0"/>
              <a:t>Tables</a:t>
            </a:r>
            <a:r>
              <a:rPr lang="en-IN" dirty="0"/>
              <a:t>:</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b="1" dirty="0"/>
              <a:t>Security Features:</a:t>
            </a:r>
          </a:p>
          <a:p>
            <a:pPr marL="285750" indent="-285750">
              <a:buFont typeface="Arial" panose="020B0604020202020204" pitchFamily="34" charset="0"/>
              <a:buChar char="•"/>
            </a:pPr>
            <a:r>
              <a:rPr lang="en-IN" dirty="0"/>
              <a:t>Row Level Security (RLS) enabled on all tables</a:t>
            </a:r>
          </a:p>
          <a:p>
            <a:pPr marL="285750" indent="-285750">
              <a:buFont typeface="Arial" panose="020B0604020202020204" pitchFamily="34" charset="0"/>
              <a:buChar char="•"/>
            </a:pPr>
            <a:r>
              <a:rPr lang="en-IN" dirty="0"/>
              <a:t>Auto-profile creation via PostgreSQL trigger on user signup</a:t>
            </a:r>
          </a:p>
          <a:p>
            <a:pPr marL="285750" indent="-285750">
              <a:buFont typeface="Arial" panose="020B0604020202020204" pitchFamily="34" charset="0"/>
              <a:buChar char="•"/>
            </a:pPr>
            <a:r>
              <a:rPr lang="en-IN" dirty="0"/>
              <a:t>Performance indexes on </a:t>
            </a:r>
            <a:r>
              <a:rPr lang="en-IN" dirty="0" err="1"/>
              <a:t>user_email</a:t>
            </a:r>
            <a:r>
              <a:rPr lang="en-IN" dirty="0"/>
              <a:t> and </a:t>
            </a:r>
            <a:r>
              <a:rPr lang="en-IN" dirty="0" err="1"/>
              <a:t>case_category</a:t>
            </a:r>
            <a:endParaRPr lang="en-IN" dirty="0"/>
          </a:p>
          <a:p>
            <a:pPr marL="285750" indent="-285750">
              <a:buFont typeface="Arial" panose="020B0604020202020204" pitchFamily="34" charset="0"/>
              <a:buChar char="•"/>
            </a:pPr>
            <a:r>
              <a:rPr lang="en-IN" dirty="0" err="1"/>
              <a:t>Supabase</a:t>
            </a:r>
            <a:r>
              <a:rPr lang="en-IN" dirty="0"/>
              <a:t> Auth for encrypted authentication</a:t>
            </a:r>
          </a:p>
        </p:txBody>
      </p:sp>
      <p:sp>
        <p:nvSpPr>
          <p:cNvPr id="4" name="TextBox 7">
            <a:extLst>
              <a:ext uri="{FF2B5EF4-FFF2-40B4-BE49-F238E27FC236}">
                <a16:creationId xmlns:a16="http://schemas.microsoft.com/office/drawing/2014/main" id="{6C9536DB-0161-234F-78D3-178862FFCDB5}"/>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0628C5A-F52D-DA5B-2EDB-18AF24218F20}"/>
              </a:ext>
            </a:extLst>
          </p:cNvPr>
          <p:cNvPicPr>
            <a:picLocks noChangeAspect="1"/>
          </p:cNvPicPr>
          <p:nvPr/>
        </p:nvPicPr>
        <p:blipFill>
          <a:blip r:embed="rId5"/>
          <a:stretch>
            <a:fillRect/>
          </a:stretch>
        </p:blipFill>
        <p:spPr>
          <a:xfrm>
            <a:off x="539552" y="2564904"/>
            <a:ext cx="8119776" cy="2043938"/>
          </a:xfrm>
          <a:prstGeom prst="rect">
            <a:avLst/>
          </a:prstGeom>
        </p:spPr>
      </p:pic>
    </p:spTree>
    <p:extLst>
      <p:ext uri="{BB962C8B-B14F-4D97-AF65-F5344CB8AC3E}">
        <p14:creationId xmlns:p14="http://schemas.microsoft.com/office/powerpoint/2010/main" val="2364606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BD47A-408D-665D-9F47-4E4C5886C350}"/>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D69C3D97-D2A4-714E-C8C1-D0C6AE343BE8}"/>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129E94AF-7266-C2F3-4AA8-C5ED0411E37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7F3C28B9-52E1-55E5-99C2-4B945C18B75E}"/>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B0013C91-C715-46ED-0953-873E6197A829}"/>
              </a:ext>
            </a:extLst>
          </p:cNvPr>
          <p:cNvSpPr>
            <a:spLocks noGrp="1"/>
          </p:cNvSpPr>
          <p:nvPr>
            <p:ph type="sldNum" sz="quarter" idx="12"/>
          </p:nvPr>
        </p:nvSpPr>
        <p:spPr/>
        <p:txBody>
          <a:bodyPr/>
          <a:lstStyle/>
          <a:p>
            <a:fld id="{1EC248AB-E565-412B-9D95-9B07D6A4F3F3}" type="slidenum">
              <a:rPr lang="en-GB" b="1" smtClean="0">
                <a:solidFill>
                  <a:schemeClr val="tx1"/>
                </a:solidFill>
              </a:rPr>
              <a:pPr/>
              <a:t>16</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ADD09C09-82E2-3C87-06CB-70875804E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8A460DBC-8CF9-B5D8-14CD-4F45D46A8CA5}"/>
              </a:ext>
            </a:extLst>
          </p:cNvPr>
          <p:cNvSpPr/>
          <p:nvPr/>
        </p:nvSpPr>
        <p:spPr>
          <a:xfrm>
            <a:off x="59285" y="1582511"/>
            <a:ext cx="9084715" cy="584775"/>
          </a:xfrm>
          <a:prstGeom prst="rect">
            <a:avLst/>
          </a:prstGeom>
        </p:spPr>
        <p:txBody>
          <a:bodyPr wrap="square">
            <a:spAutoFit/>
          </a:bodyPr>
          <a:lstStyle/>
          <a:p>
            <a:pPr algn="ctr">
              <a:buNone/>
            </a:pPr>
            <a:r>
              <a:rPr lang="en-US" sz="3200" b="1" dirty="0"/>
              <a:t>Conclusion </a:t>
            </a:r>
            <a:endParaRPr lang="en-US" sz="3200" dirty="0"/>
          </a:p>
        </p:txBody>
      </p:sp>
      <p:sp>
        <p:nvSpPr>
          <p:cNvPr id="6" name="TextBox 5">
            <a:extLst>
              <a:ext uri="{FF2B5EF4-FFF2-40B4-BE49-F238E27FC236}">
                <a16:creationId xmlns:a16="http://schemas.microsoft.com/office/drawing/2014/main" id="{42B907E3-BBD1-8119-6EB5-123F1AC4ADA5}"/>
              </a:ext>
            </a:extLst>
          </p:cNvPr>
          <p:cNvSpPr txBox="1"/>
          <p:nvPr/>
        </p:nvSpPr>
        <p:spPr>
          <a:xfrm>
            <a:off x="324036" y="2186275"/>
            <a:ext cx="8568952" cy="4278094"/>
          </a:xfrm>
          <a:prstGeom prst="rect">
            <a:avLst/>
          </a:prstGeom>
          <a:noFill/>
        </p:spPr>
        <p:txBody>
          <a:bodyPr wrap="square">
            <a:spAutoFit/>
          </a:bodyPr>
          <a:lstStyle/>
          <a:p>
            <a:pPr marL="285750" indent="-285750">
              <a:buFont typeface="Arial" panose="020B0604020202020204" pitchFamily="34" charset="0"/>
              <a:buChar char="•"/>
            </a:pPr>
            <a:r>
              <a:rPr lang="en-IN" dirty="0"/>
              <a:t>We successfully engineered a </a:t>
            </a:r>
            <a:r>
              <a:rPr lang="en-IN" b="1" dirty="0"/>
              <a:t>production-ready Legal AI platform</a:t>
            </a:r>
            <a:r>
              <a:rPr lang="en-IN" dirty="0"/>
              <a:t> that parses unstructured court judgment PDFs, preprocesses them through a custom NLP pipeline, and predicts appellate outcomes with </a:t>
            </a:r>
            <a:r>
              <a:rPr lang="en-IN" b="1" dirty="0"/>
              <a:t>85.2% accuracy</a:t>
            </a:r>
            <a:r>
              <a:rPr lang="en-IN" dirty="0"/>
              <a:t> using fine-tuned InLegalBERT.</a:t>
            </a:r>
          </a:p>
          <a:p>
            <a:pPr marL="285750" indent="-285750">
              <a:buFont typeface="Arial" panose="020B0604020202020204" pitchFamily="34" charset="0"/>
              <a:buChar char="•"/>
            </a:pPr>
            <a:r>
              <a:rPr lang="en-IN" dirty="0"/>
              <a:t>Our </a:t>
            </a:r>
            <a:r>
              <a:rPr lang="en-IN" b="1" dirty="0"/>
              <a:t>dual-model architecture</a:t>
            </a:r>
            <a:r>
              <a:rPr lang="en-IN" dirty="0"/>
              <a:t> (Module B for Jurisdiction, Module C for Outcome) provides comprehensive case analysis — classifying domain and forecasting decisions in a single workflow.</a:t>
            </a:r>
          </a:p>
          <a:p>
            <a:pPr marL="285750" indent="-285750">
              <a:buFont typeface="Arial" panose="020B0604020202020204" pitchFamily="34" charset="0"/>
              <a:buChar char="•"/>
            </a:pPr>
            <a:r>
              <a:rPr lang="en-IN" dirty="0"/>
              <a:t>The </a:t>
            </a:r>
            <a:r>
              <a:rPr lang="en-IN" b="1" dirty="0"/>
              <a:t>IPC-to-BNS translation engine</a:t>
            </a:r>
            <a:r>
              <a:rPr lang="en-IN" dirty="0"/>
              <a:t> with 80+ statutory mappings addresses a real, urgent need created by India's 2023 penal code transition — making it immediately useful for legal professionals.</a:t>
            </a:r>
          </a:p>
          <a:p>
            <a:pPr marL="285750" indent="-285750">
              <a:buFont typeface="Arial" panose="020B0604020202020204" pitchFamily="34" charset="0"/>
              <a:buChar char="•"/>
            </a:pPr>
            <a:r>
              <a:rPr lang="en-IN" b="1" dirty="0"/>
              <a:t>Role-based access control</a:t>
            </a:r>
            <a:r>
              <a:rPr lang="en-IN" dirty="0"/>
              <a:t> with </a:t>
            </a:r>
            <a:r>
              <a:rPr lang="en-IN" dirty="0" err="1"/>
              <a:t>Supabase</a:t>
            </a:r>
            <a:r>
              <a:rPr lang="en-IN" dirty="0"/>
              <a:t> authentication ensures that Students, Lawyers, Judges, and Admins each have a secure, tailored experience.</a:t>
            </a:r>
          </a:p>
          <a:p>
            <a:pPr marL="285750" indent="-285750">
              <a:buFont typeface="Arial" panose="020B0604020202020204" pitchFamily="34" charset="0"/>
              <a:buChar char="•"/>
            </a:pPr>
            <a:r>
              <a:rPr lang="en-IN" dirty="0"/>
              <a:t>The project demonstrates that </a:t>
            </a:r>
            <a:r>
              <a:rPr lang="en-IN" b="1" dirty="0"/>
              <a:t>domain-specific AI models</a:t>
            </a:r>
            <a:r>
              <a:rPr lang="en-IN" dirty="0"/>
              <a:t> (InLegalBERT) significantly outperform generic approaches (+23% over baseline), proving the value of specialized NLP in the legal domain.</a:t>
            </a:r>
          </a:p>
          <a:p>
            <a:endParaRPr lang="en-US" sz="2000" dirty="0"/>
          </a:p>
        </p:txBody>
      </p:sp>
      <p:sp>
        <p:nvSpPr>
          <p:cNvPr id="4" name="TextBox 7">
            <a:extLst>
              <a:ext uri="{FF2B5EF4-FFF2-40B4-BE49-F238E27FC236}">
                <a16:creationId xmlns:a16="http://schemas.microsoft.com/office/drawing/2014/main" id="{1A4AEA44-CDAB-D638-DF22-984558C7255A}"/>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7726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ADA96-888E-B163-C68B-134BCCF3C0C8}"/>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3F658E5E-8CC0-6B65-E1E0-6136990A873A}"/>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F8B94E18-2C06-B403-8204-2742A86961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902A4811-CDE4-4C4B-3736-E886CAF54051}"/>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5DA8F65C-B150-9706-5D88-67F11715D085}"/>
              </a:ext>
            </a:extLst>
          </p:cNvPr>
          <p:cNvSpPr>
            <a:spLocks noGrp="1"/>
          </p:cNvSpPr>
          <p:nvPr>
            <p:ph type="sldNum" sz="quarter" idx="12"/>
          </p:nvPr>
        </p:nvSpPr>
        <p:spPr/>
        <p:txBody>
          <a:bodyPr/>
          <a:lstStyle/>
          <a:p>
            <a:fld id="{1EC248AB-E565-412B-9D95-9B07D6A4F3F3}" type="slidenum">
              <a:rPr lang="en-GB" b="1" smtClean="0">
                <a:solidFill>
                  <a:schemeClr val="tx1"/>
                </a:solidFill>
              </a:rPr>
              <a:pPr/>
              <a:t>17</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4FA3F2F6-36D8-26D9-125D-BA854109A7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081B6C7-181C-EAE1-BA63-C14DADD14F20}"/>
              </a:ext>
            </a:extLst>
          </p:cNvPr>
          <p:cNvSpPr/>
          <p:nvPr/>
        </p:nvSpPr>
        <p:spPr>
          <a:xfrm>
            <a:off x="59285" y="1582511"/>
            <a:ext cx="9084715" cy="584775"/>
          </a:xfrm>
          <a:prstGeom prst="rect">
            <a:avLst/>
          </a:prstGeom>
        </p:spPr>
        <p:txBody>
          <a:bodyPr wrap="square">
            <a:spAutoFit/>
          </a:bodyPr>
          <a:lstStyle/>
          <a:p>
            <a:pPr algn="ctr">
              <a:buNone/>
            </a:pPr>
            <a:r>
              <a:rPr lang="en-US" sz="3200" b="1" dirty="0"/>
              <a:t>Future Scope</a:t>
            </a:r>
            <a:endParaRPr lang="en-US" sz="3200" dirty="0"/>
          </a:p>
        </p:txBody>
      </p:sp>
      <p:sp>
        <p:nvSpPr>
          <p:cNvPr id="6" name="TextBox 5">
            <a:extLst>
              <a:ext uri="{FF2B5EF4-FFF2-40B4-BE49-F238E27FC236}">
                <a16:creationId xmlns:a16="http://schemas.microsoft.com/office/drawing/2014/main" id="{EADE0FC9-730C-B2D2-D531-5DF3B05277A5}"/>
              </a:ext>
            </a:extLst>
          </p:cNvPr>
          <p:cNvSpPr txBox="1"/>
          <p:nvPr/>
        </p:nvSpPr>
        <p:spPr>
          <a:xfrm>
            <a:off x="317166" y="2276872"/>
            <a:ext cx="8568952" cy="4247317"/>
          </a:xfrm>
          <a:prstGeom prst="rect">
            <a:avLst/>
          </a:prstGeom>
          <a:noFill/>
        </p:spPr>
        <p:txBody>
          <a:bodyPr wrap="square">
            <a:spAutoFit/>
          </a:bodyPr>
          <a:lstStyle/>
          <a:p>
            <a:pPr marL="285750" indent="-285750" algn="just">
              <a:buFont typeface="Arial" panose="020B0604020202020204" pitchFamily="34" charset="0"/>
              <a:buChar char="•"/>
            </a:pPr>
            <a:r>
              <a:rPr lang="en-IN" b="1" dirty="0"/>
              <a:t>Generative AI Integration:</a:t>
            </a:r>
            <a:r>
              <a:rPr lang="en-IN" dirty="0"/>
              <a:t> Implementing Large Language Models (LLMs) to automatically generate plain-English summaries of complex court judgments alongside the AI predictions — making outputs accessible to non-legal users.</a:t>
            </a:r>
          </a:p>
          <a:p>
            <a:pPr marL="285750" indent="-285750" algn="just">
              <a:buFont typeface="Arial" panose="020B0604020202020204" pitchFamily="34" charset="0"/>
              <a:buChar char="•"/>
            </a:pPr>
            <a:r>
              <a:rPr lang="en-IN" b="1" dirty="0"/>
              <a:t>Explainable AI (SHAP):</a:t>
            </a:r>
            <a:r>
              <a:rPr lang="en-IN" dirty="0"/>
              <a:t> Integrating SHAP (</a:t>
            </a:r>
            <a:r>
              <a:rPr lang="en-IN" dirty="0" err="1"/>
              <a:t>SHapley</a:t>
            </a:r>
            <a:r>
              <a:rPr lang="en-IN" dirty="0"/>
              <a:t> Additive </a:t>
            </a:r>
            <a:r>
              <a:rPr lang="en-IN" dirty="0" err="1"/>
              <a:t>exPlanations</a:t>
            </a:r>
            <a:r>
              <a:rPr lang="en-IN" dirty="0"/>
              <a:t>) to generate visual heatmaps highlighting the exact words and phrases that influenced the AI's prediction — increasing transparency and trust.</a:t>
            </a:r>
          </a:p>
          <a:p>
            <a:pPr marL="285750" indent="-285750" algn="just">
              <a:buFont typeface="Arial" panose="020B0604020202020204" pitchFamily="34" charset="0"/>
              <a:buChar char="•"/>
            </a:pPr>
            <a:r>
              <a:rPr lang="en-IN" b="1" dirty="0"/>
              <a:t>Multilingual Support:</a:t>
            </a:r>
            <a:r>
              <a:rPr lang="en-IN" dirty="0"/>
              <a:t> Expanding the NLP pipeline to process court documents in regional languages — Hindi, Marathi, and Tamil — using multilingual transformer models.</a:t>
            </a:r>
          </a:p>
          <a:p>
            <a:pPr marL="285750" indent="-285750" algn="just">
              <a:buFont typeface="Arial" panose="020B0604020202020204" pitchFamily="34" charset="0"/>
              <a:buChar char="•"/>
            </a:pPr>
            <a:r>
              <a:rPr lang="en-IN" b="1" dirty="0"/>
              <a:t>Sentence &amp; Penalty Prediction:</a:t>
            </a:r>
            <a:r>
              <a:rPr lang="en-IN" dirty="0"/>
              <a:t> Extending the model to predict not just outcomes but also estimated imprisonment duration and settlement amounts for civil cases.</a:t>
            </a:r>
          </a:p>
          <a:p>
            <a:pPr marL="285750" indent="-285750" algn="just">
              <a:buFont typeface="Arial" panose="020B0604020202020204" pitchFamily="34" charset="0"/>
              <a:buChar char="•"/>
            </a:pPr>
            <a:r>
              <a:rPr lang="en-IN" b="1" dirty="0"/>
              <a:t>Frontend Migration:</a:t>
            </a:r>
            <a:r>
              <a:rPr lang="en-IN" dirty="0"/>
              <a:t> Rebuilding the Streamlit UI in React.js or Next.js to provide a production-grade, mobile-responsive application for practicing lawyers on the go.</a:t>
            </a:r>
          </a:p>
          <a:p>
            <a:pPr marL="285750" indent="-285750" algn="just">
              <a:buFont typeface="Arial" panose="020B0604020202020204" pitchFamily="34" charset="0"/>
              <a:buChar char="•"/>
            </a:pPr>
            <a:r>
              <a:rPr lang="en-IN" b="1" dirty="0"/>
              <a:t>REST API Deployment:</a:t>
            </a:r>
            <a:r>
              <a:rPr lang="en-IN" dirty="0"/>
              <a:t> Exposing the prediction models as RESTful APIs so third-party legal-tech platforms can integrate our predictions into their workflows.</a:t>
            </a:r>
          </a:p>
        </p:txBody>
      </p:sp>
      <p:sp>
        <p:nvSpPr>
          <p:cNvPr id="4" name="TextBox 7">
            <a:extLst>
              <a:ext uri="{FF2B5EF4-FFF2-40B4-BE49-F238E27FC236}">
                <a16:creationId xmlns:a16="http://schemas.microsoft.com/office/drawing/2014/main" id="{6EC1EAA2-2782-BBD3-F7A4-A9C0382DB884}"/>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2998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18</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7581" y="1385277"/>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References</a:t>
            </a:r>
          </a:p>
        </p:txBody>
      </p:sp>
      <p:sp>
        <p:nvSpPr>
          <p:cNvPr id="4" name="Rectangle 3"/>
          <p:cNvSpPr/>
          <p:nvPr/>
        </p:nvSpPr>
        <p:spPr>
          <a:xfrm>
            <a:off x="251520" y="2060848"/>
            <a:ext cx="8568952" cy="4524315"/>
          </a:xfrm>
          <a:prstGeom prst="rect">
            <a:avLst/>
          </a:prstGeom>
        </p:spPr>
        <p:txBody>
          <a:bodyPr wrap="square">
            <a:spAutoFit/>
          </a:bodyPr>
          <a:lstStyle/>
          <a:p>
            <a:pPr algn="just"/>
            <a:r>
              <a:rPr lang="en-IN" dirty="0">
                <a:latin typeface="Times New Roman" panose="02020603050405020304" pitchFamily="18" charset="0"/>
                <a:cs typeface="Times New Roman" panose="02020603050405020304" pitchFamily="18" charset="0"/>
              </a:rPr>
              <a:t>[1] </a:t>
            </a:r>
            <a:r>
              <a:rPr lang="en-IN" dirty="0" err="1">
                <a:latin typeface="Times New Roman" panose="02020603050405020304" pitchFamily="18" charset="0"/>
                <a:cs typeface="Times New Roman" panose="02020603050405020304" pitchFamily="18" charset="0"/>
              </a:rPr>
              <a:t>Chalkidis</a:t>
            </a:r>
            <a:r>
              <a:rPr lang="en-IN" dirty="0">
                <a:latin typeface="Times New Roman" panose="02020603050405020304" pitchFamily="18" charset="0"/>
                <a:cs typeface="Times New Roman" panose="02020603050405020304" pitchFamily="18" charset="0"/>
              </a:rPr>
              <a:t>, I., </a:t>
            </a:r>
            <a:r>
              <a:rPr lang="en-IN" dirty="0" err="1">
                <a:latin typeface="Times New Roman" panose="02020603050405020304" pitchFamily="18" charset="0"/>
                <a:cs typeface="Times New Roman" panose="02020603050405020304" pitchFamily="18" charset="0"/>
              </a:rPr>
              <a:t>Fergadiotis</a:t>
            </a:r>
            <a:r>
              <a:rPr lang="en-IN" dirty="0">
                <a:latin typeface="Times New Roman" panose="02020603050405020304" pitchFamily="18" charset="0"/>
                <a:cs typeface="Times New Roman" panose="02020603050405020304" pitchFamily="18" charset="0"/>
              </a:rPr>
              <a:t>, M., </a:t>
            </a:r>
            <a:r>
              <a:rPr lang="en-IN" dirty="0" err="1">
                <a:latin typeface="Times New Roman" panose="02020603050405020304" pitchFamily="18" charset="0"/>
                <a:cs typeface="Times New Roman" panose="02020603050405020304" pitchFamily="18" charset="0"/>
              </a:rPr>
              <a:t>Malakasiotis</a:t>
            </a:r>
            <a:r>
              <a:rPr lang="en-IN" dirty="0">
                <a:latin typeface="Times New Roman" panose="02020603050405020304" pitchFamily="18" charset="0"/>
                <a:cs typeface="Times New Roman" panose="02020603050405020304" pitchFamily="18" charset="0"/>
              </a:rPr>
              <a:t>, P., Hamel, J., &amp; </a:t>
            </a:r>
            <a:r>
              <a:rPr lang="en-IN" dirty="0" err="1">
                <a:latin typeface="Times New Roman" panose="02020603050405020304" pitchFamily="18" charset="0"/>
                <a:cs typeface="Times New Roman" panose="02020603050405020304" pitchFamily="18" charset="0"/>
              </a:rPr>
              <a:t>Androutsopoulos</a:t>
            </a:r>
            <a:r>
              <a:rPr lang="en-IN" dirty="0">
                <a:latin typeface="Times New Roman" panose="02020603050405020304" pitchFamily="18" charset="0"/>
                <a:cs typeface="Times New Roman" panose="02020603050405020304" pitchFamily="18" charset="0"/>
              </a:rPr>
              <a:t>, I. (2020). LEGAL-BERT: “Preparing the Muppets for Court”. In Findings of the Association for Computational Linguistics: EMNLP 2020, pages 2598–2612, Online. Association for Computational Linguistics.</a:t>
            </a:r>
          </a:p>
          <a:p>
            <a:pPr algn="just"/>
            <a:r>
              <a:rPr lang="en-IN" dirty="0">
                <a:latin typeface="Times New Roman" panose="02020603050405020304" pitchFamily="18" charset="0"/>
                <a:cs typeface="Times New Roman" panose="02020603050405020304" pitchFamily="18" charset="0"/>
              </a:rPr>
              <a:t>[2] Cao, L., Wang, Z., Xiao, C., &amp; Sun, J. (2024). PILOT: Legal Case Outcome Prediction with Case Law. In Proceedings of the 2024 Conference of the North American Chapter of the Association for Computational Linguistics: Human Language Technologies (Volume 1: Long Papers), pages 609–621, Mexico City, Mexico. Association for Computational </a:t>
            </a:r>
          </a:p>
          <a:p>
            <a:pPr algn="just"/>
            <a:r>
              <a:rPr lang="en-IN" dirty="0">
                <a:latin typeface="Times New Roman" panose="02020603050405020304" pitchFamily="18" charset="0"/>
                <a:cs typeface="Times New Roman" panose="02020603050405020304" pitchFamily="18" charset="0"/>
              </a:rPr>
              <a:t>Linguistics. </a:t>
            </a:r>
          </a:p>
          <a:p>
            <a:pPr algn="just"/>
            <a:r>
              <a:rPr lang="en-IN" dirty="0">
                <a:latin typeface="Times New Roman" panose="02020603050405020304" pitchFamily="18" charset="0"/>
                <a:cs typeface="Times New Roman" panose="02020603050405020304" pitchFamily="18" charset="0"/>
              </a:rPr>
              <a:t>[3] Sharma, S., Shandilya, R., &amp; Sharma, S. (2021). Predicting Indian Supreme Court Judgments, Decisions, Or Appeals. </a:t>
            </a:r>
            <a:r>
              <a:rPr lang="en-IN" dirty="0" err="1">
                <a:latin typeface="Times New Roman" panose="02020603050405020304" pitchFamily="18" charset="0"/>
                <a:cs typeface="Times New Roman" panose="02020603050405020304" pitchFamily="18" charset="0"/>
              </a:rPr>
              <a:t>arXiv</a:t>
            </a:r>
            <a:r>
              <a:rPr lang="en-IN" dirty="0">
                <a:latin typeface="Times New Roman" panose="02020603050405020304" pitchFamily="18" charset="0"/>
                <a:cs typeface="Times New Roman" panose="02020603050405020304" pitchFamily="18" charset="0"/>
              </a:rPr>
              <a:t> preprint arXiv:2110.09251. </a:t>
            </a:r>
          </a:p>
          <a:p>
            <a:pPr algn="just"/>
            <a:r>
              <a:rPr lang="en-IN" dirty="0">
                <a:latin typeface="Times New Roman" panose="02020603050405020304" pitchFamily="18" charset="0"/>
                <a:cs typeface="Times New Roman" panose="02020603050405020304" pitchFamily="18" charset="0"/>
              </a:rPr>
              <a:t>[4] </a:t>
            </a:r>
            <a:r>
              <a:rPr lang="en-IN" dirty="0" err="1">
                <a:latin typeface="Times New Roman" panose="02020603050405020304" pitchFamily="18" charset="0"/>
                <a:cs typeface="Times New Roman" panose="02020603050405020304" pitchFamily="18" charset="0"/>
              </a:rPr>
              <a:t>Alghazzawi</a:t>
            </a:r>
            <a:r>
              <a:rPr lang="en-IN" dirty="0">
                <a:latin typeface="Times New Roman" panose="02020603050405020304" pitchFamily="18" charset="0"/>
                <a:cs typeface="Times New Roman" panose="02020603050405020304" pitchFamily="18" charset="0"/>
              </a:rPr>
              <a:t>, D., </a:t>
            </a:r>
            <a:r>
              <a:rPr lang="en-IN" dirty="0" err="1">
                <a:latin typeface="Times New Roman" panose="02020603050405020304" pitchFamily="18" charset="0"/>
                <a:cs typeface="Times New Roman" panose="02020603050405020304" pitchFamily="18" charset="0"/>
              </a:rPr>
              <a:t>Alghamdi</a:t>
            </a:r>
            <a:r>
              <a:rPr lang="en-IN" dirty="0">
                <a:latin typeface="Times New Roman" panose="02020603050405020304" pitchFamily="18" charset="0"/>
                <a:cs typeface="Times New Roman" panose="02020603050405020304" pitchFamily="18" charset="0"/>
              </a:rPr>
              <a:t>, R., </a:t>
            </a:r>
            <a:r>
              <a:rPr lang="en-IN" dirty="0" err="1">
                <a:latin typeface="Times New Roman" panose="02020603050405020304" pitchFamily="18" charset="0"/>
                <a:cs typeface="Times New Roman" panose="02020603050405020304" pitchFamily="18" charset="0"/>
              </a:rPr>
              <a:t>Alotaibi</a:t>
            </a:r>
            <a:r>
              <a:rPr lang="en-IN" dirty="0">
                <a:latin typeface="Times New Roman" panose="02020603050405020304" pitchFamily="18" charset="0"/>
                <a:cs typeface="Times New Roman" panose="02020603050405020304" pitchFamily="18" charset="0"/>
              </a:rPr>
              <a:t>, A., &amp; El-Din, A. M. B. (2022). Efficient Prediction of Court Judgments Using an LSTM+CNN Neural Network Model with an Optimal Feature Set. Mathematics, 10(5), 683. </a:t>
            </a:r>
          </a:p>
          <a:p>
            <a:pPr algn="just"/>
            <a:r>
              <a:rPr lang="en-IN" dirty="0">
                <a:latin typeface="Times New Roman" panose="02020603050405020304" pitchFamily="18" charset="0"/>
                <a:cs typeface="Times New Roman" panose="02020603050405020304" pitchFamily="18" charset="0"/>
              </a:rPr>
              <a:t>[5] Schafer, B., </a:t>
            </a:r>
            <a:r>
              <a:rPr lang="en-IN" dirty="0" err="1">
                <a:latin typeface="Times New Roman" panose="02020603050405020304" pitchFamily="18" charset="0"/>
                <a:cs typeface="Times New Roman" panose="02020603050405020304" pitchFamily="18" charset="0"/>
              </a:rPr>
              <a:t>Middelton</a:t>
            </a:r>
            <a:r>
              <a:rPr lang="en-IN" dirty="0">
                <a:latin typeface="Times New Roman" panose="02020603050405020304" pitchFamily="18" charset="0"/>
                <a:cs typeface="Times New Roman" panose="02020603050405020304" pitchFamily="18" charset="0"/>
              </a:rPr>
              <a:t>, C., &amp; Schafer, R. (2023). Explainable AI and Law: An Evidential Survey. Artificial Intelligence and Law, 31(4), 589-623. </a:t>
            </a:r>
          </a:p>
        </p:txBody>
      </p:sp>
      <p:sp>
        <p:nvSpPr>
          <p:cNvPr id="5" name="TextBox 7">
            <a:extLst>
              <a:ext uri="{FF2B5EF4-FFF2-40B4-BE49-F238E27FC236}">
                <a16:creationId xmlns:a16="http://schemas.microsoft.com/office/drawing/2014/main" id="{C44A7D1F-3ACC-D74F-ECE8-069201CF240A}"/>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6497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F1350-6769-F27D-9D1F-353D057AC4B4}"/>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15D61D62-D588-DA4B-00F0-1FF44927A44C}"/>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EEAE12A4-4EDB-E9E5-730B-2321A1E5D9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314864F0-7392-BD31-41BE-FDC84636E48A}"/>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FD2341C-3F12-81BB-ECDF-6262DA21AA3B}"/>
              </a:ext>
            </a:extLst>
          </p:cNvPr>
          <p:cNvSpPr>
            <a:spLocks noGrp="1"/>
          </p:cNvSpPr>
          <p:nvPr>
            <p:ph type="sldNum" sz="quarter" idx="12"/>
          </p:nvPr>
        </p:nvSpPr>
        <p:spPr/>
        <p:txBody>
          <a:bodyPr/>
          <a:lstStyle/>
          <a:p>
            <a:fld id="{1EC248AB-E565-412B-9D95-9B07D6A4F3F3}" type="slidenum">
              <a:rPr lang="en-GB" b="1" smtClean="0">
                <a:solidFill>
                  <a:schemeClr val="tx1"/>
                </a:solidFill>
              </a:rPr>
              <a:pPr/>
              <a:t>19</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E2EA2F63-9A9B-9FD2-7921-75D901B4A2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B04064D-B525-5388-DE18-B449142A8351}"/>
              </a:ext>
            </a:extLst>
          </p:cNvPr>
          <p:cNvSpPr/>
          <p:nvPr/>
        </p:nvSpPr>
        <p:spPr>
          <a:xfrm>
            <a:off x="37581" y="1385277"/>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References</a:t>
            </a:r>
          </a:p>
        </p:txBody>
      </p:sp>
      <p:sp>
        <p:nvSpPr>
          <p:cNvPr id="4" name="Rectangle 3">
            <a:extLst>
              <a:ext uri="{FF2B5EF4-FFF2-40B4-BE49-F238E27FC236}">
                <a16:creationId xmlns:a16="http://schemas.microsoft.com/office/drawing/2014/main" id="{EA85EB4D-1E59-00E7-5193-D0800076ABFA}"/>
              </a:ext>
            </a:extLst>
          </p:cNvPr>
          <p:cNvSpPr/>
          <p:nvPr/>
        </p:nvSpPr>
        <p:spPr>
          <a:xfrm>
            <a:off x="251520" y="2060848"/>
            <a:ext cx="8568952" cy="4539704"/>
          </a:xfrm>
          <a:prstGeom prst="rect">
            <a:avLst/>
          </a:prstGeom>
        </p:spPr>
        <p:txBody>
          <a:bodyPr wrap="square">
            <a:spAutoFit/>
          </a:bodyPr>
          <a:lstStyle/>
          <a:p>
            <a:pPr algn="just"/>
            <a:r>
              <a:rPr lang="en-IN" sz="1700" dirty="0"/>
              <a:t>[6] Malik, V., Sanjay, R., Nigam, S. K., Ghosh, K., Guha, A. K., Bhattacharya, A., &amp; Modi, A. (2021). ILDC for CJPE: Indian Legal Documents Corpus for Court Judgment Prediction and Explanation. In Proceedings of the 59th Annual Meeting of the Association for Computational Linguistics (ACL), pages 4046–4062.</a:t>
            </a:r>
          </a:p>
          <a:p>
            <a:pPr algn="just"/>
            <a:r>
              <a:rPr lang="en-IN" sz="1700" dirty="0"/>
              <a:t>[7] Nigam, S. K., Kumar, A., &amp; Bhattacharya, A. (2024). </a:t>
            </a:r>
            <a:r>
              <a:rPr lang="en-IN" sz="1700" dirty="0" err="1"/>
              <a:t>NyayaAnumana</a:t>
            </a:r>
            <a:r>
              <a:rPr lang="en-IN" sz="1700" dirty="0"/>
              <a:t> &amp; </a:t>
            </a:r>
            <a:r>
              <a:rPr lang="en-IN" sz="1700" dirty="0" err="1"/>
              <a:t>INLegalLlama</a:t>
            </a:r>
            <a:r>
              <a:rPr lang="en-IN" sz="1700" dirty="0"/>
              <a:t>: The Largest Indian Legal Judgment Prediction Dataset. </a:t>
            </a:r>
            <a:r>
              <a:rPr lang="en-IN" sz="1700" dirty="0" err="1"/>
              <a:t>arXiv</a:t>
            </a:r>
            <a:r>
              <a:rPr lang="en-IN" sz="1700" dirty="0"/>
              <a:t> preprint arXiv:2412.08385.</a:t>
            </a:r>
          </a:p>
          <a:p>
            <a:pPr algn="just"/>
            <a:r>
              <a:rPr lang="en-IN" sz="1700" dirty="0"/>
              <a:t>[8] Sahoo, S., </a:t>
            </a:r>
            <a:r>
              <a:rPr lang="en-IN" sz="1700" dirty="0" err="1"/>
              <a:t>Pattnaik</a:t>
            </a:r>
            <a:r>
              <a:rPr lang="en-IN" sz="1700" dirty="0"/>
              <a:t>, M., &amp; Das, A. (2023). A Comprehensive Analysis of Indian Legal Documents Summarization Techniques. Neural Computing and Applications, 35(21), 14611–14631.</a:t>
            </a:r>
          </a:p>
          <a:p>
            <a:pPr algn="just"/>
            <a:r>
              <a:rPr lang="en-IN" sz="1700" dirty="0"/>
              <a:t>[9] Katz, D. M., Bommarito, M. J., &amp; Blackman, J. (2017). A General Approach for Predicting the </a:t>
            </a:r>
            <a:r>
              <a:rPr lang="en-IN" sz="1700" dirty="0" err="1"/>
              <a:t>Behavior</a:t>
            </a:r>
            <a:r>
              <a:rPr lang="en-IN" sz="1700" dirty="0"/>
              <a:t> of the Supreme Court of the United States. PLOS ONE, 12(4), e0174185.</a:t>
            </a:r>
          </a:p>
          <a:p>
            <a:pPr algn="just"/>
            <a:r>
              <a:rPr lang="en-IN" sz="1700" dirty="0"/>
              <a:t>[10] Liu, Y., Zhang, W., Zhang, M., Ding, X., &amp; Fan, X. (2022). Legal Text Recognition Using LSTM-CRF Deep Learning Model. Computational Intelligence and Neuroscience, 2022, 1–10.</a:t>
            </a:r>
          </a:p>
          <a:p>
            <a:pPr algn="just"/>
            <a:r>
              <a:rPr lang="en-IN" sz="1700" dirty="0"/>
              <a:t>[11] </a:t>
            </a:r>
            <a:r>
              <a:rPr lang="en-IN" sz="1700" dirty="0" err="1"/>
              <a:t>Savelka</a:t>
            </a:r>
            <a:r>
              <a:rPr lang="en-IN" sz="1700" dirty="0"/>
              <a:t>, J., &amp; Ashley, K. (2023). Leveraging Large Language Models for Legal Text Prediction. Artificial Intelligence and Law, 32(1), 1-25.</a:t>
            </a:r>
          </a:p>
          <a:p>
            <a:pPr algn="just"/>
            <a:r>
              <a:rPr lang="en-IN" sz="1700" dirty="0"/>
              <a:t>[12] Ashley, K. D. (2017). Artificial Intelligence and Legal Analytics: New Tools for Law Practice in the Digital Age. Cambridge University Press.</a:t>
            </a:r>
          </a:p>
        </p:txBody>
      </p:sp>
      <p:sp>
        <p:nvSpPr>
          <p:cNvPr id="5" name="TextBox 7">
            <a:extLst>
              <a:ext uri="{FF2B5EF4-FFF2-40B4-BE49-F238E27FC236}">
                <a16:creationId xmlns:a16="http://schemas.microsoft.com/office/drawing/2014/main" id="{4EB09DDC-D3CB-97B0-B1BB-F7BEDAD014BE}"/>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7529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C67CC-D295-5935-9C60-0446F0BC01B7}"/>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FA7797B1-33CA-545C-B6B1-33E6240DF470}"/>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B9883F6A-FA07-48EE-CA9E-0691091F245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8A21C568-2AC4-0016-A403-EB51D684C6EC}"/>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E1DCA1E7-ABB2-009B-389C-8D7AD84BEFEF}"/>
              </a:ext>
            </a:extLst>
          </p:cNvPr>
          <p:cNvSpPr>
            <a:spLocks noGrp="1"/>
          </p:cNvSpPr>
          <p:nvPr>
            <p:ph type="sldNum" sz="quarter" idx="12"/>
          </p:nvPr>
        </p:nvSpPr>
        <p:spPr/>
        <p:txBody>
          <a:bodyPr/>
          <a:lstStyle/>
          <a:p>
            <a:fld id="{1EC248AB-E565-412B-9D95-9B07D6A4F3F3}" type="slidenum">
              <a:rPr lang="en-GB" b="1" smtClean="0">
                <a:solidFill>
                  <a:schemeClr val="tx1"/>
                </a:solidFill>
              </a:rPr>
              <a:pPr/>
              <a:t>20</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E0BD03BE-A4BB-F89E-D5A5-D7F11FF807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ABC71F6-32FE-2B8C-7FCF-139C5279174E}"/>
              </a:ext>
            </a:extLst>
          </p:cNvPr>
          <p:cNvSpPr/>
          <p:nvPr/>
        </p:nvSpPr>
        <p:spPr>
          <a:xfrm>
            <a:off x="37581" y="1385277"/>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References</a:t>
            </a:r>
          </a:p>
        </p:txBody>
      </p:sp>
      <p:sp>
        <p:nvSpPr>
          <p:cNvPr id="4" name="Rectangle 3">
            <a:extLst>
              <a:ext uri="{FF2B5EF4-FFF2-40B4-BE49-F238E27FC236}">
                <a16:creationId xmlns:a16="http://schemas.microsoft.com/office/drawing/2014/main" id="{17848A77-3ED2-FFC3-0190-4FCF8E2C5410}"/>
              </a:ext>
            </a:extLst>
          </p:cNvPr>
          <p:cNvSpPr/>
          <p:nvPr/>
        </p:nvSpPr>
        <p:spPr>
          <a:xfrm>
            <a:off x="251520" y="2060848"/>
            <a:ext cx="8568952" cy="4031873"/>
          </a:xfrm>
          <a:prstGeom prst="rect">
            <a:avLst/>
          </a:prstGeom>
        </p:spPr>
        <p:txBody>
          <a:bodyPr wrap="square">
            <a:spAutoFit/>
          </a:bodyPr>
          <a:lstStyle/>
          <a:p>
            <a:pPr algn="just"/>
            <a:r>
              <a:rPr lang="en-IN" sz="1600" dirty="0"/>
              <a:t>[13] R. Jaegers, “A Novel Approach to Legal Text Summarization with Deep Reinforcement Learning,” Journal of Political Science and International Relations Studies, vol. 7, no. 1, pp. 1–11, 2024. </a:t>
            </a:r>
          </a:p>
          <a:p>
            <a:pPr algn="just"/>
            <a:r>
              <a:rPr lang="en-IN" sz="1600" dirty="0"/>
              <a:t>[14] P. de Souza, L. Chalkidis, and V. </a:t>
            </a:r>
            <a:r>
              <a:rPr lang="en-IN" sz="1600" dirty="0" err="1"/>
              <a:t>Simaki</a:t>
            </a:r>
            <a:r>
              <a:rPr lang="en-IN" sz="1600" dirty="0"/>
              <a:t>, “Topic Modelling of Legal Documents via LEGAL-BERT,” in 2022 IEEE International Conference on Big Data (Big Data), 2022, pp. 4465–4474. </a:t>
            </a:r>
          </a:p>
          <a:p>
            <a:pPr algn="just"/>
            <a:r>
              <a:rPr lang="en-IN" sz="1600" dirty="0"/>
              <a:t>[15] S. Tuladhar, S. Zuk, and M. Shardlow, “BERT-based Classification of US Supreme Court Decisions,” in Proceedings of the 14th Interna </a:t>
            </a:r>
            <a:r>
              <a:rPr lang="en-IN" sz="1600" dirty="0" err="1"/>
              <a:t>tional</a:t>
            </a:r>
            <a:r>
              <a:rPr lang="en-IN" sz="1600" dirty="0"/>
              <a:t> Conference on Recent Advances in Natural Language Processing (RANLP 2023), Varna, Bulgaria: INCOMA Ltd., 2023, pp. 1195–1205. </a:t>
            </a:r>
          </a:p>
          <a:p>
            <a:pPr algn="just"/>
            <a:r>
              <a:rPr lang="en-IN" sz="1600" dirty="0"/>
              <a:t>[16] Anonymous, “A Hybrid Model for Legal Entity Recognition using Legal-BERT and Semantic Filtering,” </a:t>
            </a:r>
            <a:r>
              <a:rPr lang="en-IN" sz="1600" dirty="0" err="1"/>
              <a:t>arXiv</a:t>
            </a:r>
            <a:r>
              <a:rPr lang="en-IN" sz="1600" dirty="0"/>
              <a:t> preprint arXiv:2410.08521v1, 2024. </a:t>
            </a:r>
          </a:p>
          <a:p>
            <a:pPr algn="just"/>
            <a:r>
              <a:rPr lang="en-IN" sz="1600" dirty="0"/>
              <a:t>[17] P. </a:t>
            </a:r>
            <a:r>
              <a:rPr lang="en-IN" sz="1600" dirty="0" err="1"/>
              <a:t>Katsikouli</a:t>
            </a:r>
            <a:r>
              <a:rPr lang="en-IN" sz="1600" dirty="0"/>
              <a:t>, R. Sorge, and N. Perra, “Machine Learning and Asylum Adjudications: From Analysis of Variations to Outcome Predictions,” in 2022 IEEE International Conference on Big Data (Big Data), 2022, pp. 4786–4795. </a:t>
            </a:r>
          </a:p>
          <a:p>
            <a:pPr algn="just"/>
            <a:r>
              <a:rPr lang="en-IN" sz="1600" dirty="0"/>
              <a:t>[18] M. B. </a:t>
            </a:r>
            <a:r>
              <a:rPr lang="en-IN" sz="1600" dirty="0" err="1"/>
              <a:t>Kmainasi</a:t>
            </a:r>
            <a:r>
              <a:rPr lang="en-IN" sz="1600" dirty="0"/>
              <a:t>, S. </a:t>
            </a:r>
            <a:r>
              <a:rPr lang="en-IN" sz="1600" dirty="0" err="1"/>
              <a:t>Kmainasi</a:t>
            </a:r>
            <a:r>
              <a:rPr lang="en-IN" sz="1600" dirty="0"/>
              <a:t>, and O. El </a:t>
            </a:r>
            <a:r>
              <a:rPr lang="en-IN" sz="1600" dirty="0" err="1"/>
              <a:t>Mounadi</a:t>
            </a:r>
            <a:r>
              <a:rPr lang="en-IN" sz="1600" dirty="0"/>
              <a:t>, “Can Large Language Models Predict the Outcome of Judicial Decisions?,” </a:t>
            </a:r>
            <a:r>
              <a:rPr lang="en-IN" sz="1600" dirty="0" err="1"/>
              <a:t>arXiv</a:t>
            </a:r>
            <a:r>
              <a:rPr lang="en-IN" sz="1600" dirty="0"/>
              <a:t> preprint arXiv:2501.09768, 2025. </a:t>
            </a:r>
          </a:p>
          <a:p>
            <a:pPr algn="just"/>
            <a:r>
              <a:rPr lang="en-IN" sz="1600" dirty="0"/>
              <a:t>[19] D. L. Katz, M. J. Bommarito, and J. Blackman, “A time-evolving random forest classifier for judicial prediction,” PLOS ONE, vol. 12, no. 4, p. e0174185, 2017. </a:t>
            </a:r>
          </a:p>
        </p:txBody>
      </p:sp>
      <p:sp>
        <p:nvSpPr>
          <p:cNvPr id="5" name="TextBox 7">
            <a:extLst>
              <a:ext uri="{FF2B5EF4-FFF2-40B4-BE49-F238E27FC236}">
                <a16:creationId xmlns:a16="http://schemas.microsoft.com/office/drawing/2014/main" id="{AA220B88-F040-354C-C779-09B5352C8C9B}"/>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8007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36FE4-C708-7FA8-2205-9671D89F2ACA}"/>
            </a:ext>
          </a:extLst>
        </p:cNvPr>
        <p:cNvGrpSpPr/>
        <p:nvPr/>
      </p:nvGrpSpPr>
      <p:grpSpPr>
        <a:xfrm>
          <a:off x="0" y="0"/>
          <a:ext cx="0" cy="0"/>
          <a:chOff x="0" y="0"/>
          <a:chExt cx="0" cy="0"/>
        </a:xfrm>
      </p:grpSpPr>
      <p:sp>
        <p:nvSpPr>
          <p:cNvPr id="1048598" name="Rectangle 5">
            <a:extLst>
              <a:ext uri="{FF2B5EF4-FFF2-40B4-BE49-F238E27FC236}">
                <a16:creationId xmlns:a16="http://schemas.microsoft.com/office/drawing/2014/main" id="{F51B017F-78DB-0745-CFA9-9373F8859C3F}"/>
              </a:ext>
            </a:extLst>
          </p:cNvPr>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a:extLst>
              <a:ext uri="{FF2B5EF4-FFF2-40B4-BE49-F238E27FC236}">
                <a16:creationId xmlns:a16="http://schemas.microsoft.com/office/drawing/2014/main" id="{12269FFD-E14F-F109-944D-F9D11BF3EE0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a:extLst>
              <a:ext uri="{FF2B5EF4-FFF2-40B4-BE49-F238E27FC236}">
                <a16:creationId xmlns:a16="http://schemas.microsoft.com/office/drawing/2014/main" id="{539AF2BF-B17A-8D57-E3C2-58A097E4B59A}"/>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Review - IV</a:t>
            </a:r>
            <a:endParaRPr lang="en-IN" sz="1600" b="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A351F39E-24F7-457C-8562-3BF53B22BF3D}"/>
              </a:ext>
            </a:extLst>
          </p:cNvPr>
          <p:cNvSpPr>
            <a:spLocks noGrp="1"/>
          </p:cNvSpPr>
          <p:nvPr>
            <p:ph type="sldNum" sz="quarter" idx="12"/>
          </p:nvPr>
        </p:nvSpPr>
        <p:spPr/>
        <p:txBody>
          <a:bodyPr/>
          <a:lstStyle/>
          <a:p>
            <a:fld id="{1EC248AB-E565-412B-9D95-9B07D6A4F3F3}" type="slidenum">
              <a:rPr lang="en-GB" b="1" smtClean="0">
                <a:solidFill>
                  <a:schemeClr val="tx1"/>
                </a:solidFill>
              </a:rPr>
              <a:pPr/>
              <a:t>21</a:t>
            </a:fld>
            <a:endParaRPr lang="en-GB" b="1" dirty="0">
              <a:solidFill>
                <a:schemeClr val="tx1"/>
              </a:solidFill>
            </a:endParaRPr>
          </a:p>
        </p:txBody>
      </p:sp>
      <p:pic>
        <p:nvPicPr>
          <p:cNvPr id="1027" name="Picture 3" descr="C:\Users\admin\Desktop\download.png">
            <a:extLst>
              <a:ext uri="{FF2B5EF4-FFF2-40B4-BE49-F238E27FC236}">
                <a16:creationId xmlns:a16="http://schemas.microsoft.com/office/drawing/2014/main" id="{4E5960B4-FC9A-B0BE-1BE6-7327E564BB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E6D753F-408F-5C9D-A1AF-8624991B723C}"/>
              </a:ext>
            </a:extLst>
          </p:cNvPr>
          <p:cNvSpPr/>
          <p:nvPr/>
        </p:nvSpPr>
        <p:spPr>
          <a:xfrm>
            <a:off x="37581" y="1385277"/>
            <a:ext cx="9084715" cy="584775"/>
          </a:xfrm>
          <a:prstGeom prst="rect">
            <a:avLst/>
          </a:prstGeom>
        </p:spPr>
        <p:txBody>
          <a:bodyPr wrap="square">
            <a:spAutoFit/>
          </a:bodyPr>
          <a:lstStyle/>
          <a:p>
            <a:pPr lvl="0" algn="ct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References</a:t>
            </a:r>
          </a:p>
        </p:txBody>
      </p:sp>
      <p:sp>
        <p:nvSpPr>
          <p:cNvPr id="4" name="Rectangle 3">
            <a:extLst>
              <a:ext uri="{FF2B5EF4-FFF2-40B4-BE49-F238E27FC236}">
                <a16:creationId xmlns:a16="http://schemas.microsoft.com/office/drawing/2014/main" id="{3ADDF733-ED6C-4BBF-4443-893496F478C6}"/>
              </a:ext>
            </a:extLst>
          </p:cNvPr>
          <p:cNvSpPr/>
          <p:nvPr/>
        </p:nvSpPr>
        <p:spPr>
          <a:xfrm>
            <a:off x="251520" y="2060848"/>
            <a:ext cx="8568952" cy="4524315"/>
          </a:xfrm>
          <a:prstGeom prst="rect">
            <a:avLst/>
          </a:prstGeom>
        </p:spPr>
        <p:txBody>
          <a:bodyPr wrap="square">
            <a:spAutoFit/>
          </a:bodyPr>
          <a:lstStyle/>
          <a:p>
            <a:pPr algn="just"/>
            <a:r>
              <a:rPr lang="en-IN" sz="1600" dirty="0"/>
              <a:t>[20] F. </a:t>
            </a:r>
            <a:r>
              <a:rPr lang="en-IN" sz="1600" dirty="0" err="1"/>
              <a:t>Ariai</a:t>
            </a:r>
            <a:r>
              <a:rPr lang="en-IN" sz="1600" dirty="0"/>
              <a:t> and G. </a:t>
            </a:r>
            <a:r>
              <a:rPr lang="en-IN" sz="1600" dirty="0" err="1"/>
              <a:t>Demartini</a:t>
            </a:r>
            <a:r>
              <a:rPr lang="en-IN" sz="1600" dirty="0"/>
              <a:t>, “Natural Language Processing for the Legal Domain: A Survey,” </a:t>
            </a:r>
            <a:r>
              <a:rPr lang="en-IN" sz="1600" dirty="0" err="1"/>
              <a:t>arXiv</a:t>
            </a:r>
            <a:r>
              <a:rPr lang="en-IN" sz="1600" dirty="0"/>
              <a:t> preprint arXiv:2410.21306, 2024. </a:t>
            </a:r>
          </a:p>
          <a:p>
            <a:pPr algn="just"/>
            <a:r>
              <a:rPr lang="en-IN" sz="1600" dirty="0"/>
              <a:t>[21] D. M. Katz, M. J. Bommarito II, and J. Blackman, “A general approach for predicting the </a:t>
            </a:r>
            <a:r>
              <a:rPr lang="en-IN" sz="1600" dirty="0" err="1"/>
              <a:t>behavior</a:t>
            </a:r>
            <a:r>
              <a:rPr lang="en-IN" sz="1600" dirty="0"/>
              <a:t> of the Supreme Court of the United States,” PLOS ONE, vol. 12, no. 4, 2017. </a:t>
            </a:r>
          </a:p>
          <a:p>
            <a:pPr algn="just"/>
            <a:r>
              <a:rPr lang="en-IN" sz="1600" dirty="0"/>
              <a:t>[22] N. </a:t>
            </a:r>
            <a:r>
              <a:rPr lang="en-IN" sz="1600" dirty="0" err="1"/>
              <a:t>Aletras</a:t>
            </a:r>
            <a:r>
              <a:rPr lang="en-IN" sz="1600" dirty="0"/>
              <a:t>, D. </a:t>
            </a:r>
            <a:r>
              <a:rPr lang="en-IN" sz="1600" dirty="0" err="1"/>
              <a:t>Tsarapatsanis</a:t>
            </a:r>
            <a:r>
              <a:rPr lang="en-IN" sz="1600" dirty="0"/>
              <a:t>, D. </a:t>
            </a:r>
            <a:r>
              <a:rPr lang="en-IN" sz="1600" dirty="0" err="1"/>
              <a:t>Preot¸iuc-Pietro</a:t>
            </a:r>
            <a:r>
              <a:rPr lang="en-IN" sz="1600" dirty="0"/>
              <a:t>, and V. Lampos, “Pre </a:t>
            </a:r>
            <a:r>
              <a:rPr lang="en-IN" sz="1600" dirty="0" err="1"/>
              <a:t>dicting</a:t>
            </a:r>
            <a:r>
              <a:rPr lang="en-IN" sz="1600" dirty="0"/>
              <a:t> judicial decisions of the European Court of Human Rights,” </a:t>
            </a:r>
            <a:r>
              <a:rPr lang="en-IN" sz="1600" dirty="0" err="1"/>
              <a:t>PeerJ</a:t>
            </a:r>
            <a:r>
              <a:rPr lang="en-IN" sz="1600" dirty="0"/>
              <a:t> Computer Science, vol. 2, 2016. </a:t>
            </a:r>
          </a:p>
          <a:p>
            <a:pPr algn="just"/>
            <a:r>
              <a:rPr lang="en-IN" sz="1600" dirty="0"/>
              <a:t>[23] V. Malik et al., “ILDC for CJPE: Indian Legal Documents Corpus for Court Judgment Prediction and Explanation,” in Proceedings of ACL IJCNLP, 2021, pp. 4046–4062. </a:t>
            </a:r>
          </a:p>
          <a:p>
            <a:pPr algn="just"/>
            <a:r>
              <a:rPr lang="en-IN" sz="1600" dirty="0"/>
              <a:t>[24] Z. Zhong, C. Xiao, C. Tu, T. Zhang, Z. Liu, and M. Sun, “Legal </a:t>
            </a:r>
            <a:r>
              <a:rPr lang="en-IN" sz="1600" dirty="0" err="1"/>
              <a:t>Judg</a:t>
            </a:r>
            <a:r>
              <a:rPr lang="en-IN" sz="1600" dirty="0"/>
              <a:t> </a:t>
            </a:r>
            <a:r>
              <a:rPr lang="en-IN" sz="1600" dirty="0" err="1"/>
              <a:t>ment</a:t>
            </a:r>
            <a:r>
              <a:rPr lang="en-IN" sz="1600" dirty="0"/>
              <a:t> Prediction via Topological Learning,” in Proceedings of EMNLP, 2018. </a:t>
            </a:r>
          </a:p>
          <a:p>
            <a:pPr algn="just"/>
            <a:r>
              <a:rPr lang="en-IN" sz="1600" dirty="0"/>
              <a:t>[25] Y. Feng, Y. Qin, X. Wang, and J. Chen, “Legal Judgment Prediction via Event Extraction,” in Proceedings of COLING, 2022. </a:t>
            </a:r>
          </a:p>
          <a:p>
            <a:pPr algn="just"/>
            <a:r>
              <a:rPr lang="en-IN" sz="1600" dirty="0"/>
              <a:t>[26] J. ˇ </a:t>
            </a:r>
            <a:r>
              <a:rPr lang="en-IN" sz="1600" dirty="0" err="1"/>
              <a:t>Savelka</a:t>
            </a:r>
            <a:r>
              <a:rPr lang="en-IN" sz="1600" dirty="0"/>
              <a:t> and K. Ashley, “Leveraging Large Language Models for Legal Text Prediction,” Artificial Intelligence and Law, 2023. </a:t>
            </a:r>
          </a:p>
          <a:p>
            <a:pPr algn="just"/>
            <a:r>
              <a:rPr lang="en-IN" sz="1600" dirty="0"/>
              <a:t>[27] S. K. Nigam et al., “</a:t>
            </a:r>
            <a:r>
              <a:rPr lang="en-IN" sz="1600" dirty="0" err="1"/>
              <a:t>NyayaAnumana</a:t>
            </a:r>
            <a:r>
              <a:rPr lang="en-IN" sz="1600" dirty="0"/>
              <a:t> &amp; </a:t>
            </a:r>
            <a:r>
              <a:rPr lang="en-IN" sz="1600" dirty="0" err="1"/>
              <a:t>INLegalLlama</a:t>
            </a:r>
            <a:r>
              <a:rPr lang="en-IN" sz="1600" dirty="0"/>
              <a:t>: The Largest Indian Legal Judgment Prediction Dataset,” </a:t>
            </a:r>
            <a:r>
              <a:rPr lang="en-IN" sz="1600" dirty="0" err="1"/>
              <a:t>arXiv</a:t>
            </a:r>
            <a:r>
              <a:rPr lang="en-IN" sz="1600" dirty="0"/>
              <a:t> preprint arXiv:2412.08385, 2024. </a:t>
            </a:r>
          </a:p>
          <a:p>
            <a:pPr algn="just"/>
            <a:r>
              <a:rPr lang="en-IN" sz="1600" dirty="0"/>
              <a:t>[28] S. K. Nigam et al., “</a:t>
            </a:r>
            <a:r>
              <a:rPr lang="en-IN" sz="1600" dirty="0" err="1"/>
              <a:t>TathyaNyaya</a:t>
            </a:r>
            <a:r>
              <a:rPr lang="en-IN" sz="1600" dirty="0"/>
              <a:t> and </a:t>
            </a:r>
            <a:r>
              <a:rPr lang="en-IN" sz="1600" dirty="0" err="1"/>
              <a:t>FactLegalLlama</a:t>
            </a:r>
            <a:r>
              <a:rPr lang="en-IN" sz="1600" dirty="0"/>
              <a:t>: Advancing Factual Judgment Prediction,” </a:t>
            </a:r>
            <a:r>
              <a:rPr lang="en-IN" sz="1600" dirty="0" err="1"/>
              <a:t>arXiv</a:t>
            </a:r>
            <a:r>
              <a:rPr lang="en-IN" sz="1600" dirty="0"/>
              <a:t> preprint arXiv:2504.04737, 2025</a:t>
            </a:r>
            <a:endParaRPr lang="en-IN" sz="1700" dirty="0"/>
          </a:p>
        </p:txBody>
      </p:sp>
      <p:sp>
        <p:nvSpPr>
          <p:cNvPr id="5" name="TextBox 7">
            <a:extLst>
              <a:ext uri="{FF2B5EF4-FFF2-40B4-BE49-F238E27FC236}">
                <a16:creationId xmlns:a16="http://schemas.microsoft.com/office/drawing/2014/main" id="{DE56AAB7-937D-4992-DEC7-2AF632E437D8}"/>
              </a:ext>
            </a:extLst>
          </p:cNvPr>
          <p:cNvSpPr txBox="1">
            <a:spLocks noChangeArrowheads="1"/>
          </p:cNvSpPr>
          <p:nvPr/>
        </p:nvSpPr>
        <p:spPr bwMode="auto">
          <a:xfrm>
            <a:off x="0" y="1052736"/>
            <a:ext cx="9180512" cy="338554"/>
          </a:xfrm>
          <a:prstGeom prst="rect">
            <a:avLst/>
          </a:prstGeom>
          <a:solidFill>
            <a:srgbClr val="FFC000"/>
          </a:solidFill>
          <a:ln w="9525">
            <a:noFill/>
            <a:miter lim="800000"/>
          </a:ln>
        </p:spPr>
        <p:txBody>
          <a:bodyPr wrap="square">
            <a:spAutoFit/>
          </a:bodyPr>
          <a:lstStyle/>
          <a:p>
            <a:pPr algn="ctr"/>
            <a:r>
              <a:rPr lang="en-US" sz="1600" b="1" dirty="0">
                <a:latin typeface="Times New Roman" panose="02020603050405020304" pitchFamily="18" charset="0"/>
                <a:cs typeface="Times New Roman" panose="02020603050405020304" pitchFamily="18" charset="0"/>
              </a:rPr>
              <a:t>Final Presentation</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15021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4148</TotalTime>
  <Words>4198</Words>
  <Application>Microsoft Office PowerPoint</Application>
  <PresentationFormat>On-screen Show (4:3)</PresentationFormat>
  <Paragraphs>364</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Kevin Hickey</dc:creator>
  <cp:lastModifiedBy>Nikhil Raghuvanshi</cp:lastModifiedBy>
  <cp:revision>116</cp:revision>
  <dcterms:created xsi:type="dcterms:W3CDTF">2010-06-24T14:41:07Z</dcterms:created>
  <dcterms:modified xsi:type="dcterms:W3CDTF">2026-06-02T04:37:43Z</dcterms:modified>
</cp:coreProperties>
</file>